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"/>
    <p:sldId id="256" r:id="rId3"/>
    <p:sldId id="270" r:id="rId4"/>
    <p:sldId id="272" r:id="rId5"/>
    <p:sldId id="265" r:id="rId6"/>
    <p:sldId id="271" r:id="rId7"/>
    <p:sldId id="259" r:id="rId8"/>
    <p:sldId id="263" r:id="rId9"/>
    <p:sldId id="264" r:id="rId10"/>
    <p:sldId id="266" r:id="rId11"/>
    <p:sldId id="260" r:id="rId12"/>
    <p:sldId id="262" r:id="rId13"/>
    <p:sldId id="273" r:id="rId14"/>
    <p:sldId id="261" r:id="rId15"/>
    <p:sldId id="258" r:id="rId16"/>
    <p:sldId id="267" r:id="rId17"/>
    <p:sldId id="268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-1016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printerSettings" Target="printerSettings/printerSettings1.bin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91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28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989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650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61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58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15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762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508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6CFFB6-0779-2A4B-A45F-67AB7124580F}" type="datetimeFigureOut">
              <a:rPr lang="en-US" smtClean="0"/>
              <a:t>7/18/12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1DB470-9CD7-5845-9104-77CEEDD74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34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28808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328995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833091" y="216877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333285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837381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366875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</a:t>
            </a:r>
            <a:endParaRPr lang="en-US" dirty="0"/>
          </a:p>
        </p:txBody>
      </p:sp>
      <p:cxnSp>
        <p:nvCxnSpPr>
          <p:cNvPr id="10" name="Straight Connector 9"/>
          <p:cNvCxnSpPr>
            <a:endCxn id="4" idx="1"/>
          </p:cNvCxnSpPr>
          <p:nvPr/>
        </p:nvCxnSpPr>
        <p:spPr>
          <a:xfrm>
            <a:off x="1627557" y="2701184"/>
            <a:ext cx="201251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1" name="Straight Connector 10"/>
          <p:cNvCxnSpPr>
            <a:stCxn id="4" idx="3"/>
            <a:endCxn id="5" idx="1"/>
          </p:cNvCxnSpPr>
          <p:nvPr/>
        </p:nvCxnSpPr>
        <p:spPr>
          <a:xfrm>
            <a:off x="2112115" y="2701184"/>
            <a:ext cx="216880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2" name="Straight Connector 11"/>
          <p:cNvCxnSpPr>
            <a:stCxn id="5" idx="3"/>
            <a:endCxn id="6" idx="1"/>
          </p:cNvCxnSpPr>
          <p:nvPr/>
        </p:nvCxnSpPr>
        <p:spPr>
          <a:xfrm flipV="1">
            <a:off x="2612302" y="2310424"/>
            <a:ext cx="220789" cy="39076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3" name="Straight Connector 12"/>
          <p:cNvCxnSpPr>
            <a:stCxn id="6" idx="3"/>
            <a:endCxn id="7" idx="1"/>
          </p:cNvCxnSpPr>
          <p:nvPr/>
        </p:nvCxnSpPr>
        <p:spPr>
          <a:xfrm>
            <a:off x="3116398" y="2310424"/>
            <a:ext cx="216887" cy="39076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4" name="Straight Connector 13"/>
          <p:cNvCxnSpPr>
            <a:stCxn id="7" idx="3"/>
            <a:endCxn id="8" idx="1"/>
          </p:cNvCxnSpPr>
          <p:nvPr/>
        </p:nvCxnSpPr>
        <p:spPr>
          <a:xfrm>
            <a:off x="3616592" y="2701184"/>
            <a:ext cx="22078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5" name="Straight Connector 14"/>
          <p:cNvCxnSpPr>
            <a:stCxn id="8" idx="3"/>
            <a:endCxn id="9" idx="1"/>
          </p:cNvCxnSpPr>
          <p:nvPr/>
        </p:nvCxnSpPr>
        <p:spPr>
          <a:xfrm>
            <a:off x="4120688" y="2701184"/>
            <a:ext cx="246187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28" name="Straight Connector 27"/>
          <p:cNvCxnSpPr>
            <a:stCxn id="5" idx="3"/>
            <a:endCxn id="7" idx="1"/>
          </p:cNvCxnSpPr>
          <p:nvPr/>
        </p:nvCxnSpPr>
        <p:spPr>
          <a:xfrm>
            <a:off x="2612302" y="2701184"/>
            <a:ext cx="720983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47" name="TextBox 46"/>
          <p:cNvSpPr txBox="1"/>
          <p:nvPr/>
        </p:nvSpPr>
        <p:spPr>
          <a:xfrm>
            <a:off x="5588000" y="1992923"/>
            <a:ext cx="4086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backward path: ((F,0),(E,0),(D,1),(C,0))</a:t>
            </a:r>
          </a:p>
          <a:p>
            <a:r>
              <a:rPr lang="en-US" dirty="0" smtClean="0"/>
              <a:t>Forward path:		(</a:t>
            </a:r>
            <a:r>
              <a:rPr lang="en-US" dirty="0"/>
              <a:t>(F,0),(E,0),(D,1),(C,0))</a:t>
            </a:r>
          </a:p>
        </p:txBody>
      </p:sp>
    </p:spTree>
    <p:extLst>
      <p:ext uri="{BB962C8B-B14F-4D97-AF65-F5344CB8AC3E}">
        <p14:creationId xmlns:p14="http://schemas.microsoft.com/office/powerpoint/2010/main" val="2779880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72847" y="1877593"/>
            <a:ext cx="791307" cy="554948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Clean</a:t>
            </a:r>
            <a:r>
              <a:rPr lang="en-US" sz="1600" baseline="-25000" dirty="0" smtClean="0"/>
              <a:t>1</a:t>
            </a:r>
            <a:endParaRPr lang="en-US" sz="1600" dirty="0"/>
          </a:p>
        </p:txBody>
      </p:sp>
      <p:sp>
        <p:nvSpPr>
          <p:cNvPr id="5" name="Rectangle 4"/>
          <p:cNvSpPr/>
          <p:nvPr/>
        </p:nvSpPr>
        <p:spPr>
          <a:xfrm>
            <a:off x="4230077" y="3016689"/>
            <a:ext cx="1058602" cy="554948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Cosmic Ray detection</a:t>
            </a:r>
            <a:endParaRPr lang="en-US" sz="1500" dirty="0"/>
          </a:p>
        </p:txBody>
      </p:sp>
      <p:sp>
        <p:nvSpPr>
          <p:cNvPr id="6" name="Rectangle 5"/>
          <p:cNvSpPr/>
          <p:nvPr/>
        </p:nvSpPr>
        <p:spPr>
          <a:xfrm>
            <a:off x="5646550" y="1889259"/>
            <a:ext cx="928139" cy="554948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Merge images</a:t>
            </a:r>
            <a:endParaRPr lang="en-US" sz="1500" dirty="0"/>
          </a:p>
        </p:txBody>
      </p:sp>
      <p:sp>
        <p:nvSpPr>
          <p:cNvPr id="7" name="Rectangle 6"/>
          <p:cNvSpPr/>
          <p:nvPr/>
        </p:nvSpPr>
        <p:spPr>
          <a:xfrm>
            <a:off x="6850200" y="2264423"/>
            <a:ext cx="896454" cy="871500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Remove Cosmic Ray</a:t>
            </a:r>
            <a:endParaRPr lang="en-US" sz="1500" dirty="0"/>
          </a:p>
        </p:txBody>
      </p:sp>
      <p:sp>
        <p:nvSpPr>
          <p:cNvPr id="8" name="Rectangle 7"/>
          <p:cNvSpPr/>
          <p:nvPr/>
        </p:nvSpPr>
        <p:spPr>
          <a:xfrm>
            <a:off x="1572847" y="2850616"/>
            <a:ext cx="791307" cy="554948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Clean</a:t>
            </a:r>
            <a:r>
              <a:rPr lang="en-US" sz="1600" baseline="-25000" dirty="0" err="1" smtClean="0"/>
              <a:t>n</a:t>
            </a:r>
            <a:endParaRPr lang="en-US" sz="1600" dirty="0"/>
          </a:p>
        </p:txBody>
      </p:sp>
      <p:sp>
        <p:nvSpPr>
          <p:cNvPr id="9" name="Rectangle 8"/>
          <p:cNvSpPr/>
          <p:nvPr/>
        </p:nvSpPr>
        <p:spPr>
          <a:xfrm>
            <a:off x="4230077" y="3756191"/>
            <a:ext cx="1058602" cy="554948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Cosmic Ray detection</a:t>
            </a:r>
            <a:endParaRPr lang="en-US" sz="1500" dirty="0"/>
          </a:p>
        </p:txBody>
      </p:sp>
      <p:sp>
        <p:nvSpPr>
          <p:cNvPr id="10" name="TextBox 9"/>
          <p:cNvSpPr txBox="1"/>
          <p:nvPr/>
        </p:nvSpPr>
        <p:spPr>
          <a:xfrm>
            <a:off x="367320" y="1970401"/>
            <a:ext cx="930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Image 1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367320" y="2952269"/>
            <a:ext cx="930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Image 2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5656372" y="2782233"/>
            <a:ext cx="928139" cy="554948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Merge CR Masks</a:t>
            </a:r>
            <a:endParaRPr lang="en-US" sz="1500" dirty="0"/>
          </a:p>
        </p:txBody>
      </p:sp>
      <p:cxnSp>
        <p:nvCxnSpPr>
          <p:cNvPr id="15" name="Straight Arrow Connector 14"/>
          <p:cNvCxnSpPr>
            <a:stCxn id="5" idx="3"/>
            <a:endCxn id="13" idx="1"/>
          </p:cNvCxnSpPr>
          <p:nvPr/>
        </p:nvCxnSpPr>
        <p:spPr>
          <a:xfrm flipV="1">
            <a:off x="5288679" y="3059707"/>
            <a:ext cx="367693" cy="23445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9" idx="3"/>
            <a:endCxn id="13" idx="1"/>
          </p:cNvCxnSpPr>
          <p:nvPr/>
        </p:nvCxnSpPr>
        <p:spPr>
          <a:xfrm flipV="1">
            <a:off x="5288679" y="3059707"/>
            <a:ext cx="367693" cy="97395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3"/>
            <a:endCxn id="7" idx="1"/>
          </p:cNvCxnSpPr>
          <p:nvPr/>
        </p:nvCxnSpPr>
        <p:spPr>
          <a:xfrm>
            <a:off x="6574689" y="2166733"/>
            <a:ext cx="275511" cy="5334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2" name="Straight Arrow Connector 21"/>
          <p:cNvCxnSpPr>
            <a:stCxn id="13" idx="3"/>
            <a:endCxn id="7" idx="1"/>
          </p:cNvCxnSpPr>
          <p:nvPr/>
        </p:nvCxnSpPr>
        <p:spPr>
          <a:xfrm flipV="1">
            <a:off x="6584511" y="2700173"/>
            <a:ext cx="265689" cy="35953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" name="Straight Arrow Connector 24"/>
          <p:cNvCxnSpPr>
            <a:stCxn id="7" idx="3"/>
            <a:endCxn id="26" idx="1"/>
          </p:cNvCxnSpPr>
          <p:nvPr/>
        </p:nvCxnSpPr>
        <p:spPr>
          <a:xfrm>
            <a:off x="7746654" y="2700173"/>
            <a:ext cx="264133" cy="7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6" name="Rectangle 25"/>
          <p:cNvSpPr/>
          <p:nvPr/>
        </p:nvSpPr>
        <p:spPr>
          <a:xfrm>
            <a:off x="8010787" y="2422772"/>
            <a:ext cx="752213" cy="554948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Detect Stars</a:t>
            </a:r>
            <a:endParaRPr lang="en-US" sz="1500" dirty="0"/>
          </a:p>
        </p:txBody>
      </p:sp>
      <p:cxnSp>
        <p:nvCxnSpPr>
          <p:cNvPr id="32" name="Straight Arrow Connector 31"/>
          <p:cNvCxnSpPr>
            <a:stCxn id="4" idx="3"/>
            <a:endCxn id="49" idx="1"/>
          </p:cNvCxnSpPr>
          <p:nvPr/>
        </p:nvCxnSpPr>
        <p:spPr>
          <a:xfrm>
            <a:off x="2364154" y="2155067"/>
            <a:ext cx="160134" cy="220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3116388" y="1887362"/>
            <a:ext cx="801074" cy="554948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Clean</a:t>
            </a:r>
            <a:r>
              <a:rPr lang="en-US" sz="1600" baseline="-25000" dirty="0" err="1" smtClean="0"/>
              <a:t>n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3116388" y="2850616"/>
            <a:ext cx="801074" cy="554948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Clean</a:t>
            </a:r>
            <a:r>
              <a:rPr lang="en-US" sz="1600" baseline="-25000" dirty="0" err="1" smtClean="0"/>
              <a:t>n</a:t>
            </a:r>
            <a:endParaRPr lang="en-US" sz="1600" dirty="0"/>
          </a:p>
        </p:txBody>
      </p:sp>
      <p:cxnSp>
        <p:nvCxnSpPr>
          <p:cNvPr id="47" name="Straight Arrow Connector 46"/>
          <p:cNvCxnSpPr>
            <a:stCxn id="49" idx="3"/>
            <a:endCxn id="42" idx="1"/>
          </p:cNvCxnSpPr>
          <p:nvPr/>
        </p:nvCxnSpPr>
        <p:spPr>
          <a:xfrm>
            <a:off x="2921452" y="2157271"/>
            <a:ext cx="194936" cy="75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524288" y="1926438"/>
            <a:ext cx="3971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…</a:t>
            </a:r>
            <a:endParaRPr lang="en-US" sz="2400" dirty="0"/>
          </a:p>
        </p:txBody>
      </p:sp>
      <p:cxnSp>
        <p:nvCxnSpPr>
          <p:cNvPr id="53" name="Straight Arrow Connector 52"/>
          <p:cNvCxnSpPr>
            <a:stCxn id="8" idx="3"/>
            <a:endCxn id="55" idx="1"/>
          </p:cNvCxnSpPr>
          <p:nvPr/>
        </p:nvCxnSpPr>
        <p:spPr>
          <a:xfrm>
            <a:off x="2364154" y="3128090"/>
            <a:ext cx="160134" cy="220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55" idx="3"/>
            <a:endCxn id="43" idx="1"/>
          </p:cNvCxnSpPr>
          <p:nvPr/>
        </p:nvCxnSpPr>
        <p:spPr>
          <a:xfrm flipV="1">
            <a:off x="2921452" y="3128090"/>
            <a:ext cx="194936" cy="220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524288" y="2899461"/>
            <a:ext cx="3971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…</a:t>
            </a:r>
            <a:endParaRPr lang="en-US" sz="2400" dirty="0"/>
          </a:p>
        </p:txBody>
      </p:sp>
      <p:cxnSp>
        <p:nvCxnSpPr>
          <p:cNvPr id="56" name="Straight Arrow Connector 55"/>
          <p:cNvCxnSpPr>
            <a:stCxn id="10" idx="3"/>
            <a:endCxn id="4" idx="1"/>
          </p:cNvCxnSpPr>
          <p:nvPr/>
        </p:nvCxnSpPr>
        <p:spPr>
          <a:xfrm>
            <a:off x="1297796" y="2155067"/>
            <a:ext cx="275051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1" idx="3"/>
            <a:endCxn id="8" idx="1"/>
          </p:cNvCxnSpPr>
          <p:nvPr/>
        </p:nvCxnSpPr>
        <p:spPr>
          <a:xfrm flipV="1">
            <a:off x="1297796" y="3128090"/>
            <a:ext cx="275051" cy="88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42" idx="3"/>
            <a:endCxn id="6" idx="1"/>
          </p:cNvCxnSpPr>
          <p:nvPr/>
        </p:nvCxnSpPr>
        <p:spPr>
          <a:xfrm>
            <a:off x="3917462" y="2164836"/>
            <a:ext cx="1729088" cy="18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43" idx="3"/>
            <a:endCxn id="6" idx="1"/>
          </p:cNvCxnSpPr>
          <p:nvPr/>
        </p:nvCxnSpPr>
        <p:spPr>
          <a:xfrm flipV="1">
            <a:off x="3917462" y="2166733"/>
            <a:ext cx="1729088" cy="96135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43" idx="3"/>
            <a:endCxn id="9" idx="1"/>
          </p:cNvCxnSpPr>
          <p:nvPr/>
        </p:nvCxnSpPr>
        <p:spPr>
          <a:xfrm>
            <a:off x="3917462" y="3128090"/>
            <a:ext cx="312615" cy="9055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42" idx="3"/>
            <a:endCxn id="5" idx="1"/>
          </p:cNvCxnSpPr>
          <p:nvPr/>
        </p:nvCxnSpPr>
        <p:spPr>
          <a:xfrm>
            <a:off x="3917462" y="2164836"/>
            <a:ext cx="312615" cy="112932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Left Brace 79"/>
          <p:cNvSpPr/>
          <p:nvPr/>
        </p:nvSpPr>
        <p:spPr>
          <a:xfrm rot="16200000">
            <a:off x="3362379" y="2769269"/>
            <a:ext cx="185617" cy="366698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1" name="Left Brace 80"/>
          <p:cNvSpPr/>
          <p:nvPr/>
        </p:nvSpPr>
        <p:spPr>
          <a:xfrm rot="16200000">
            <a:off x="7009391" y="3068961"/>
            <a:ext cx="185618" cy="3067601"/>
          </a:xfrm>
          <a:prstGeom prst="lef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2" name="TextBox 81"/>
          <p:cNvSpPr txBox="1"/>
          <p:nvPr/>
        </p:nvSpPr>
        <p:spPr>
          <a:xfrm>
            <a:off x="2295769" y="4856257"/>
            <a:ext cx="2174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Per image processing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5661003" y="4856257"/>
            <a:ext cx="2867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Composite image processing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629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44250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1828808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328995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833091" y="216877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333285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837381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366875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870971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380928" y="216877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904562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6425264" y="3102699"/>
            <a:ext cx="283307" cy="283307"/>
          </a:xfrm>
          <a:prstGeom prst="rect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cxnSp>
        <p:nvCxnSpPr>
          <p:cNvPr id="17" name="Straight Connector 16"/>
          <p:cNvCxnSpPr>
            <a:stCxn id="4" idx="3"/>
            <a:endCxn id="5" idx="1"/>
          </p:cNvCxnSpPr>
          <p:nvPr/>
        </p:nvCxnSpPr>
        <p:spPr>
          <a:xfrm>
            <a:off x="1627557" y="2701184"/>
            <a:ext cx="201251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8" name="Straight Connector 17"/>
          <p:cNvCxnSpPr>
            <a:stCxn id="5" idx="3"/>
            <a:endCxn id="6" idx="1"/>
          </p:cNvCxnSpPr>
          <p:nvPr/>
        </p:nvCxnSpPr>
        <p:spPr>
          <a:xfrm>
            <a:off x="2112115" y="2701184"/>
            <a:ext cx="216880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21" name="Straight Connector 20"/>
          <p:cNvCxnSpPr>
            <a:stCxn id="6" idx="3"/>
            <a:endCxn id="7" idx="1"/>
          </p:cNvCxnSpPr>
          <p:nvPr/>
        </p:nvCxnSpPr>
        <p:spPr>
          <a:xfrm flipV="1">
            <a:off x="2612302" y="2310424"/>
            <a:ext cx="220789" cy="39076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24" name="Straight Connector 23"/>
          <p:cNvCxnSpPr>
            <a:stCxn id="7" idx="3"/>
            <a:endCxn id="8" idx="1"/>
          </p:cNvCxnSpPr>
          <p:nvPr/>
        </p:nvCxnSpPr>
        <p:spPr>
          <a:xfrm>
            <a:off x="3116398" y="2310424"/>
            <a:ext cx="216887" cy="39076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28" name="Straight Connector 27"/>
          <p:cNvCxnSpPr>
            <a:stCxn id="8" idx="3"/>
            <a:endCxn id="9" idx="1"/>
          </p:cNvCxnSpPr>
          <p:nvPr/>
        </p:nvCxnSpPr>
        <p:spPr>
          <a:xfrm>
            <a:off x="3616592" y="2701184"/>
            <a:ext cx="22078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2" name="Straight Connector 31"/>
          <p:cNvCxnSpPr>
            <a:stCxn id="9" idx="3"/>
            <a:endCxn id="10" idx="1"/>
          </p:cNvCxnSpPr>
          <p:nvPr/>
        </p:nvCxnSpPr>
        <p:spPr>
          <a:xfrm>
            <a:off x="4120688" y="2701184"/>
            <a:ext cx="246187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5" name="Straight Connector 34"/>
          <p:cNvCxnSpPr>
            <a:stCxn id="10" idx="3"/>
            <a:endCxn id="11" idx="1"/>
          </p:cNvCxnSpPr>
          <p:nvPr/>
        </p:nvCxnSpPr>
        <p:spPr>
          <a:xfrm>
            <a:off x="4650182" y="2701184"/>
            <a:ext cx="22078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8" name="Straight Connector 37"/>
          <p:cNvCxnSpPr>
            <a:stCxn id="11" idx="3"/>
            <a:endCxn id="12" idx="1"/>
          </p:cNvCxnSpPr>
          <p:nvPr/>
        </p:nvCxnSpPr>
        <p:spPr>
          <a:xfrm flipV="1">
            <a:off x="5154278" y="2310424"/>
            <a:ext cx="226650" cy="39076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41" name="Straight Connector 40"/>
          <p:cNvCxnSpPr>
            <a:stCxn id="12" idx="3"/>
            <a:endCxn id="13" idx="1"/>
          </p:cNvCxnSpPr>
          <p:nvPr/>
        </p:nvCxnSpPr>
        <p:spPr>
          <a:xfrm>
            <a:off x="5664235" y="2310424"/>
            <a:ext cx="240327" cy="39076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44" name="Straight Connector 43"/>
          <p:cNvCxnSpPr>
            <a:stCxn id="13" idx="3"/>
            <a:endCxn id="14" idx="1"/>
          </p:cNvCxnSpPr>
          <p:nvPr/>
        </p:nvCxnSpPr>
        <p:spPr>
          <a:xfrm>
            <a:off x="6187869" y="2701184"/>
            <a:ext cx="237395" cy="543169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47" name="Rectangle 46"/>
          <p:cNvSpPr/>
          <p:nvPr/>
        </p:nvSpPr>
        <p:spPr>
          <a:xfrm>
            <a:off x="1354996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1839554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2339741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2843837" y="3366462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344031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3848127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4377621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4881717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380928" y="3366462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915308" y="3014778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6436010" y="3499333"/>
            <a:ext cx="283307" cy="283307"/>
          </a:xfrm>
          <a:prstGeom prst="rect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cxnSp>
        <p:nvCxnSpPr>
          <p:cNvPr id="58" name="Straight Connector 57"/>
          <p:cNvCxnSpPr>
            <a:stCxn id="47" idx="3"/>
            <a:endCxn id="48" idx="1"/>
          </p:cNvCxnSpPr>
          <p:nvPr/>
        </p:nvCxnSpPr>
        <p:spPr>
          <a:xfrm>
            <a:off x="1638303" y="3156432"/>
            <a:ext cx="201251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59" name="Straight Connector 58"/>
          <p:cNvCxnSpPr>
            <a:stCxn id="48" idx="3"/>
            <a:endCxn id="49" idx="1"/>
          </p:cNvCxnSpPr>
          <p:nvPr/>
        </p:nvCxnSpPr>
        <p:spPr>
          <a:xfrm>
            <a:off x="2122861" y="3156432"/>
            <a:ext cx="216880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0" name="Straight Connector 59"/>
          <p:cNvCxnSpPr>
            <a:stCxn id="49" idx="3"/>
            <a:endCxn id="50" idx="1"/>
          </p:cNvCxnSpPr>
          <p:nvPr/>
        </p:nvCxnSpPr>
        <p:spPr>
          <a:xfrm>
            <a:off x="2623048" y="3156432"/>
            <a:ext cx="220789" cy="351684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1" name="Straight Connector 60"/>
          <p:cNvCxnSpPr>
            <a:stCxn id="50" idx="3"/>
            <a:endCxn id="51" idx="1"/>
          </p:cNvCxnSpPr>
          <p:nvPr/>
        </p:nvCxnSpPr>
        <p:spPr>
          <a:xfrm flipV="1">
            <a:off x="3127144" y="3156432"/>
            <a:ext cx="216887" cy="351684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2" name="Straight Connector 61"/>
          <p:cNvCxnSpPr>
            <a:stCxn id="51" idx="3"/>
            <a:endCxn id="52" idx="1"/>
          </p:cNvCxnSpPr>
          <p:nvPr/>
        </p:nvCxnSpPr>
        <p:spPr>
          <a:xfrm>
            <a:off x="3627338" y="3156432"/>
            <a:ext cx="22078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3" name="Straight Connector 62"/>
          <p:cNvCxnSpPr>
            <a:stCxn id="52" idx="3"/>
            <a:endCxn id="53" idx="1"/>
          </p:cNvCxnSpPr>
          <p:nvPr/>
        </p:nvCxnSpPr>
        <p:spPr>
          <a:xfrm>
            <a:off x="4131434" y="3156432"/>
            <a:ext cx="246187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4" name="Straight Connector 63"/>
          <p:cNvCxnSpPr>
            <a:stCxn id="53" idx="3"/>
            <a:endCxn id="54" idx="1"/>
          </p:cNvCxnSpPr>
          <p:nvPr/>
        </p:nvCxnSpPr>
        <p:spPr>
          <a:xfrm>
            <a:off x="4660928" y="3156432"/>
            <a:ext cx="22078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5" name="Straight Connector 64"/>
          <p:cNvCxnSpPr>
            <a:stCxn id="54" idx="3"/>
            <a:endCxn id="55" idx="1"/>
          </p:cNvCxnSpPr>
          <p:nvPr/>
        </p:nvCxnSpPr>
        <p:spPr>
          <a:xfrm>
            <a:off x="5165024" y="3156432"/>
            <a:ext cx="215904" cy="351684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6" name="Straight Connector 65"/>
          <p:cNvCxnSpPr>
            <a:stCxn id="55" idx="3"/>
            <a:endCxn id="56" idx="1"/>
          </p:cNvCxnSpPr>
          <p:nvPr/>
        </p:nvCxnSpPr>
        <p:spPr>
          <a:xfrm flipV="1">
            <a:off x="5664235" y="3156432"/>
            <a:ext cx="251073" cy="351684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7" name="Straight Connector 66"/>
          <p:cNvCxnSpPr>
            <a:stCxn id="56" idx="3"/>
            <a:endCxn id="57" idx="1"/>
          </p:cNvCxnSpPr>
          <p:nvPr/>
        </p:nvCxnSpPr>
        <p:spPr>
          <a:xfrm>
            <a:off x="6198615" y="3156432"/>
            <a:ext cx="237395" cy="484555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70" name="Rectangle 69"/>
          <p:cNvSpPr/>
          <p:nvPr/>
        </p:nvSpPr>
        <p:spPr>
          <a:xfrm>
            <a:off x="6902038" y="255953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13" idx="3"/>
            <a:endCxn id="70" idx="1"/>
          </p:cNvCxnSpPr>
          <p:nvPr/>
        </p:nvCxnSpPr>
        <p:spPr>
          <a:xfrm>
            <a:off x="6187869" y="2701184"/>
            <a:ext cx="71416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5" name="Straight Connector 74"/>
          <p:cNvCxnSpPr>
            <a:stCxn id="56" idx="3"/>
            <a:endCxn id="70" idx="1"/>
          </p:cNvCxnSpPr>
          <p:nvPr/>
        </p:nvCxnSpPr>
        <p:spPr>
          <a:xfrm flipV="1">
            <a:off x="6198615" y="2701184"/>
            <a:ext cx="703423" cy="455248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84" name="Rectangle 83"/>
          <p:cNvSpPr/>
          <p:nvPr/>
        </p:nvSpPr>
        <p:spPr>
          <a:xfrm>
            <a:off x="6902038" y="3284409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/>
          <p:cNvCxnSpPr>
            <a:stCxn id="14" idx="3"/>
            <a:endCxn id="84" idx="1"/>
          </p:cNvCxnSpPr>
          <p:nvPr/>
        </p:nvCxnSpPr>
        <p:spPr>
          <a:xfrm>
            <a:off x="6708571" y="3244353"/>
            <a:ext cx="193467" cy="18171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90" name="Rectangle 89"/>
          <p:cNvSpPr/>
          <p:nvPr/>
        </p:nvSpPr>
        <p:spPr>
          <a:xfrm>
            <a:off x="7435438" y="2842837"/>
            <a:ext cx="283307" cy="283307"/>
          </a:xfrm>
          <a:prstGeom prst="rect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91" name="Rectangle 90"/>
          <p:cNvSpPr/>
          <p:nvPr/>
        </p:nvSpPr>
        <p:spPr>
          <a:xfrm>
            <a:off x="7959069" y="2842837"/>
            <a:ext cx="283307" cy="283307"/>
          </a:xfrm>
          <a:prstGeom prst="rect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cxnSp>
        <p:nvCxnSpPr>
          <p:cNvPr id="92" name="Straight Connector 91"/>
          <p:cNvCxnSpPr>
            <a:stCxn id="57" idx="3"/>
            <a:endCxn id="84" idx="1"/>
          </p:cNvCxnSpPr>
          <p:nvPr/>
        </p:nvCxnSpPr>
        <p:spPr>
          <a:xfrm flipV="1">
            <a:off x="6719317" y="3426063"/>
            <a:ext cx="182721" cy="214924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5" name="Straight Connector 94"/>
          <p:cNvCxnSpPr>
            <a:stCxn id="84" idx="3"/>
            <a:endCxn id="90" idx="1"/>
          </p:cNvCxnSpPr>
          <p:nvPr/>
        </p:nvCxnSpPr>
        <p:spPr>
          <a:xfrm flipV="1">
            <a:off x="7185345" y="2984491"/>
            <a:ext cx="250093" cy="441572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8" name="Straight Connector 97"/>
          <p:cNvCxnSpPr>
            <a:stCxn id="70" idx="3"/>
            <a:endCxn id="90" idx="1"/>
          </p:cNvCxnSpPr>
          <p:nvPr/>
        </p:nvCxnSpPr>
        <p:spPr>
          <a:xfrm>
            <a:off x="7185345" y="2701184"/>
            <a:ext cx="250093" cy="283307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01" name="Straight Connector 100"/>
          <p:cNvCxnSpPr>
            <a:stCxn id="90" idx="3"/>
            <a:endCxn id="91" idx="1"/>
          </p:cNvCxnSpPr>
          <p:nvPr/>
        </p:nvCxnSpPr>
        <p:spPr>
          <a:xfrm>
            <a:off x="7718745" y="2984491"/>
            <a:ext cx="240324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08" name="Straight Connector 107"/>
          <p:cNvCxnSpPr>
            <a:stCxn id="6" idx="3"/>
            <a:endCxn id="8" idx="1"/>
          </p:cNvCxnSpPr>
          <p:nvPr/>
        </p:nvCxnSpPr>
        <p:spPr>
          <a:xfrm>
            <a:off x="2612302" y="2701184"/>
            <a:ext cx="720983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11" name="Straight Connector 110"/>
          <p:cNvCxnSpPr>
            <a:stCxn id="49" idx="3"/>
            <a:endCxn id="51" idx="1"/>
          </p:cNvCxnSpPr>
          <p:nvPr/>
        </p:nvCxnSpPr>
        <p:spPr>
          <a:xfrm>
            <a:off x="2623048" y="3156432"/>
            <a:ext cx="720983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16" name="Straight Connector 115"/>
          <p:cNvCxnSpPr>
            <a:stCxn id="54" idx="3"/>
            <a:endCxn id="56" idx="1"/>
          </p:cNvCxnSpPr>
          <p:nvPr/>
        </p:nvCxnSpPr>
        <p:spPr>
          <a:xfrm>
            <a:off x="5165024" y="3156432"/>
            <a:ext cx="750284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21" name="Straight Connector 120"/>
          <p:cNvCxnSpPr>
            <a:stCxn id="11" idx="3"/>
            <a:endCxn id="13" idx="1"/>
          </p:cNvCxnSpPr>
          <p:nvPr/>
        </p:nvCxnSpPr>
        <p:spPr>
          <a:xfrm>
            <a:off x="5154278" y="2701184"/>
            <a:ext cx="750284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pic>
        <p:nvPicPr>
          <p:cNvPr id="125" name="Picture 1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936" y="2510691"/>
            <a:ext cx="414183" cy="384947"/>
          </a:xfrm>
          <a:prstGeom prst="rect">
            <a:avLst/>
          </a:prstGeom>
        </p:spPr>
      </p:pic>
      <p:pic>
        <p:nvPicPr>
          <p:cNvPr id="126" name="Picture 1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936" y="2972712"/>
            <a:ext cx="414183" cy="384947"/>
          </a:xfrm>
          <a:prstGeom prst="rect">
            <a:avLst/>
          </a:prstGeom>
        </p:spPr>
      </p:pic>
      <p:cxnSp>
        <p:nvCxnSpPr>
          <p:cNvPr id="128" name="Straight Arrow Connector 127"/>
          <p:cNvCxnSpPr>
            <a:stCxn id="125" idx="3"/>
            <a:endCxn id="4" idx="1"/>
          </p:cNvCxnSpPr>
          <p:nvPr/>
        </p:nvCxnSpPr>
        <p:spPr>
          <a:xfrm flipV="1">
            <a:off x="924119" y="2701184"/>
            <a:ext cx="420131" cy="198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/>
          <p:cNvCxnSpPr>
            <a:stCxn id="126" idx="3"/>
            <a:endCxn id="47" idx="1"/>
          </p:cNvCxnSpPr>
          <p:nvPr/>
        </p:nvCxnSpPr>
        <p:spPr>
          <a:xfrm flipV="1">
            <a:off x="924119" y="3156432"/>
            <a:ext cx="430877" cy="87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4738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2761264" y="1139097"/>
            <a:ext cx="409901" cy="4015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BB</a:t>
            </a:r>
            <a:endParaRPr lang="en-US" sz="1600" dirty="0"/>
          </a:p>
        </p:txBody>
      </p:sp>
      <p:sp>
        <p:nvSpPr>
          <p:cNvPr id="38" name="Rectangle 37"/>
          <p:cNvSpPr/>
          <p:nvPr/>
        </p:nvSpPr>
        <p:spPr>
          <a:xfrm>
            <a:off x="3428501" y="1740880"/>
            <a:ext cx="409901" cy="4015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BB</a:t>
            </a:r>
            <a:endParaRPr lang="en-US" sz="1600" dirty="0"/>
          </a:p>
        </p:txBody>
      </p:sp>
      <p:cxnSp>
        <p:nvCxnSpPr>
          <p:cNvPr id="39" name="Straight Connector 38"/>
          <p:cNvCxnSpPr>
            <a:stCxn id="37" idx="3"/>
            <a:endCxn id="38" idx="1"/>
          </p:cNvCxnSpPr>
          <p:nvPr/>
        </p:nvCxnSpPr>
        <p:spPr>
          <a:xfrm>
            <a:off x="3171165" y="1339855"/>
            <a:ext cx="257336" cy="601783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40" name="Rectangle 39"/>
          <p:cNvSpPr/>
          <p:nvPr/>
        </p:nvSpPr>
        <p:spPr>
          <a:xfrm>
            <a:off x="4119216" y="1142992"/>
            <a:ext cx="409901" cy="4015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CL</a:t>
            </a:r>
            <a:endParaRPr lang="en-US" sz="1600" dirty="0"/>
          </a:p>
        </p:txBody>
      </p:sp>
      <p:cxnSp>
        <p:nvCxnSpPr>
          <p:cNvPr id="42" name="Straight Connector 41"/>
          <p:cNvCxnSpPr>
            <a:stCxn id="37" idx="3"/>
            <a:endCxn id="40" idx="1"/>
          </p:cNvCxnSpPr>
          <p:nvPr/>
        </p:nvCxnSpPr>
        <p:spPr>
          <a:xfrm>
            <a:off x="3171165" y="1339855"/>
            <a:ext cx="948051" cy="3895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43" name="Rectangle 42"/>
          <p:cNvSpPr/>
          <p:nvPr/>
        </p:nvSpPr>
        <p:spPr>
          <a:xfrm>
            <a:off x="4119216" y="1740874"/>
            <a:ext cx="409901" cy="4015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CL</a:t>
            </a:r>
            <a:endParaRPr lang="en-US" sz="1600" dirty="0"/>
          </a:p>
        </p:txBody>
      </p:sp>
      <p:sp>
        <p:nvSpPr>
          <p:cNvPr id="45" name="Rectangle 44"/>
          <p:cNvSpPr/>
          <p:nvPr/>
        </p:nvSpPr>
        <p:spPr>
          <a:xfrm>
            <a:off x="5121528" y="1426299"/>
            <a:ext cx="409901" cy="4015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BB</a:t>
            </a:r>
            <a:endParaRPr lang="en-US" sz="1600" dirty="0"/>
          </a:p>
        </p:txBody>
      </p:sp>
      <p:cxnSp>
        <p:nvCxnSpPr>
          <p:cNvPr id="47" name="Straight Connector 46"/>
          <p:cNvCxnSpPr>
            <a:stCxn id="38" idx="3"/>
            <a:endCxn id="43" idx="1"/>
          </p:cNvCxnSpPr>
          <p:nvPr/>
        </p:nvCxnSpPr>
        <p:spPr>
          <a:xfrm flipV="1">
            <a:off x="3838402" y="1941632"/>
            <a:ext cx="280814" cy="6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48" name="Straight Connector 47"/>
          <p:cNvCxnSpPr>
            <a:stCxn id="43" idx="3"/>
            <a:endCxn id="45" idx="1"/>
          </p:cNvCxnSpPr>
          <p:nvPr/>
        </p:nvCxnSpPr>
        <p:spPr>
          <a:xfrm flipV="1">
            <a:off x="4529117" y="1627057"/>
            <a:ext cx="592411" cy="314575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49" name="Straight Connector 48"/>
          <p:cNvCxnSpPr>
            <a:stCxn id="40" idx="3"/>
            <a:endCxn id="45" idx="1"/>
          </p:cNvCxnSpPr>
          <p:nvPr/>
        </p:nvCxnSpPr>
        <p:spPr>
          <a:xfrm>
            <a:off x="4529117" y="1343750"/>
            <a:ext cx="592411" cy="283307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55" name="TextBox 54"/>
          <p:cNvSpPr txBox="1"/>
          <p:nvPr/>
        </p:nvSpPr>
        <p:spPr>
          <a:xfrm>
            <a:off x="5764840" y="3886201"/>
            <a:ext cx="855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Output</a:t>
            </a:r>
            <a:endParaRPr lang="en-US" dirty="0"/>
          </a:p>
        </p:txBody>
      </p:sp>
      <p:sp>
        <p:nvSpPr>
          <p:cNvPr id="56" name="TextBox 55"/>
          <p:cNvSpPr txBox="1"/>
          <p:nvPr/>
        </p:nvSpPr>
        <p:spPr>
          <a:xfrm>
            <a:off x="1971942" y="3886201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Input</a:t>
            </a:r>
            <a:endParaRPr lang="en-US" dirty="0"/>
          </a:p>
        </p:txBody>
      </p:sp>
      <p:sp>
        <p:nvSpPr>
          <p:cNvPr id="81" name="Rectangle 80"/>
          <p:cNvSpPr/>
          <p:nvPr/>
        </p:nvSpPr>
        <p:spPr>
          <a:xfrm>
            <a:off x="2898622" y="3886201"/>
            <a:ext cx="404345" cy="4043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CL</a:t>
            </a:r>
            <a:endParaRPr lang="en-US" sz="1600" dirty="0"/>
          </a:p>
        </p:txBody>
      </p:sp>
      <p:sp>
        <p:nvSpPr>
          <p:cNvPr id="82" name="Rectangle 81"/>
          <p:cNvSpPr/>
          <p:nvPr/>
        </p:nvSpPr>
        <p:spPr>
          <a:xfrm>
            <a:off x="3383180" y="3886201"/>
            <a:ext cx="404345" cy="4043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CL</a:t>
            </a:r>
            <a:endParaRPr lang="en-US" sz="1600" dirty="0"/>
          </a:p>
        </p:txBody>
      </p:sp>
      <p:sp>
        <p:nvSpPr>
          <p:cNvPr id="83" name="Rectangle 82"/>
          <p:cNvSpPr/>
          <p:nvPr/>
        </p:nvSpPr>
        <p:spPr>
          <a:xfrm>
            <a:off x="4542777" y="3435829"/>
            <a:ext cx="404345" cy="40434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BB</a:t>
            </a:r>
            <a:endParaRPr lang="en-US" sz="1600" dirty="0"/>
          </a:p>
        </p:txBody>
      </p:sp>
      <p:sp>
        <p:nvSpPr>
          <p:cNvPr id="84" name="Rectangle 83"/>
          <p:cNvSpPr/>
          <p:nvPr/>
        </p:nvSpPr>
        <p:spPr>
          <a:xfrm>
            <a:off x="5173871" y="3886201"/>
            <a:ext cx="404345" cy="40434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BB</a:t>
            </a:r>
            <a:endParaRPr lang="en-US" sz="1600" dirty="0"/>
          </a:p>
        </p:txBody>
      </p:sp>
      <p:cxnSp>
        <p:nvCxnSpPr>
          <p:cNvPr id="85" name="Straight Connector 84"/>
          <p:cNvCxnSpPr>
            <a:stCxn id="81" idx="3"/>
            <a:endCxn id="82" idx="1"/>
          </p:cNvCxnSpPr>
          <p:nvPr/>
        </p:nvCxnSpPr>
        <p:spPr>
          <a:xfrm>
            <a:off x="3302967" y="4088374"/>
            <a:ext cx="80213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6" name="Straight Connector 85"/>
          <p:cNvCxnSpPr>
            <a:stCxn id="82" idx="3"/>
            <a:endCxn id="83" idx="1"/>
          </p:cNvCxnSpPr>
          <p:nvPr/>
        </p:nvCxnSpPr>
        <p:spPr>
          <a:xfrm flipV="1">
            <a:off x="3787525" y="3638002"/>
            <a:ext cx="755252" cy="450372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7" name="Straight Connector 86"/>
          <p:cNvCxnSpPr>
            <a:stCxn id="83" idx="3"/>
            <a:endCxn id="84" idx="1"/>
          </p:cNvCxnSpPr>
          <p:nvPr/>
        </p:nvCxnSpPr>
        <p:spPr>
          <a:xfrm>
            <a:off x="4947122" y="3638002"/>
            <a:ext cx="226749" cy="450372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8" name="Rectangle 87"/>
          <p:cNvSpPr/>
          <p:nvPr/>
        </p:nvSpPr>
        <p:spPr>
          <a:xfrm>
            <a:off x="3383194" y="3396753"/>
            <a:ext cx="404345" cy="4043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CL</a:t>
            </a:r>
            <a:endParaRPr lang="en-US" sz="1600" dirty="0"/>
          </a:p>
        </p:txBody>
      </p:sp>
      <p:cxnSp>
        <p:nvCxnSpPr>
          <p:cNvPr id="89" name="Straight Connector 88"/>
          <p:cNvCxnSpPr>
            <a:stCxn id="88" idx="3"/>
            <a:endCxn id="83" idx="1"/>
          </p:cNvCxnSpPr>
          <p:nvPr/>
        </p:nvCxnSpPr>
        <p:spPr>
          <a:xfrm>
            <a:off x="3787539" y="3598926"/>
            <a:ext cx="755238" cy="39076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0" name="Straight Connector 89"/>
          <p:cNvCxnSpPr>
            <a:stCxn id="82" idx="3"/>
            <a:endCxn id="84" idx="1"/>
          </p:cNvCxnSpPr>
          <p:nvPr/>
        </p:nvCxnSpPr>
        <p:spPr>
          <a:xfrm>
            <a:off x="3787525" y="4088374"/>
            <a:ext cx="1386346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1" name="Straight Connector 90"/>
          <p:cNvCxnSpPr>
            <a:stCxn id="88" idx="3"/>
            <a:endCxn id="84" idx="1"/>
          </p:cNvCxnSpPr>
          <p:nvPr/>
        </p:nvCxnSpPr>
        <p:spPr>
          <a:xfrm>
            <a:off x="3787539" y="3598926"/>
            <a:ext cx="1386332" cy="489448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4072453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11919" y="2231154"/>
            <a:ext cx="957389" cy="76798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Sample </a:t>
            </a:r>
          </a:p>
          <a:p>
            <a:pPr algn="ctr"/>
            <a:r>
              <a:rPr lang="en-US" sz="1400" dirty="0" smtClean="0"/>
              <a:t>+ Transpose</a:t>
            </a: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6467246" y="2340203"/>
            <a:ext cx="420077" cy="5549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 smtClean="0"/>
              <a:t>…</a:t>
            </a:r>
            <a:endParaRPr lang="en-US" sz="2800" dirty="0"/>
          </a:p>
        </p:txBody>
      </p:sp>
      <p:sp>
        <p:nvSpPr>
          <p:cNvPr id="9" name="Rectangle 8"/>
          <p:cNvSpPr/>
          <p:nvPr/>
        </p:nvSpPr>
        <p:spPr>
          <a:xfrm>
            <a:off x="3806081" y="2333670"/>
            <a:ext cx="896454" cy="554948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Create Model</a:t>
            </a:r>
            <a:endParaRPr lang="en-US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257013" y="2123695"/>
            <a:ext cx="1050175" cy="9879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 smtClean="0"/>
              <a:t>Patient</a:t>
            </a:r>
          </a:p>
          <a:p>
            <a:pPr algn="ctr">
              <a:lnSpc>
                <a:spcPct val="80000"/>
              </a:lnSpc>
            </a:pPr>
            <a:r>
              <a:rPr lang="en-US" dirty="0"/>
              <a:t>x</a:t>
            </a:r>
            <a:endParaRPr lang="en-US" dirty="0" smtClean="0"/>
          </a:p>
          <a:p>
            <a:pPr algn="ctr">
              <a:lnSpc>
                <a:spcPct val="80000"/>
              </a:lnSpc>
            </a:pPr>
            <a:r>
              <a:rPr lang="en-US" dirty="0" smtClean="0"/>
              <a:t>Features</a:t>
            </a:r>
          </a:p>
          <a:p>
            <a:pPr algn="ctr">
              <a:lnSpc>
                <a:spcPct val="80000"/>
              </a:lnSpc>
            </a:pPr>
            <a:r>
              <a:rPr lang="en-US" dirty="0" smtClean="0"/>
              <a:t>(training)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5197177" y="2340203"/>
            <a:ext cx="1006302" cy="554948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Prediction</a:t>
            </a:r>
            <a:endParaRPr lang="en-US" sz="1400" dirty="0"/>
          </a:p>
        </p:txBody>
      </p:sp>
      <p:cxnSp>
        <p:nvCxnSpPr>
          <p:cNvPr id="14" name="Straight Arrow Connector 13"/>
          <p:cNvCxnSpPr>
            <a:stCxn id="9" idx="3"/>
            <a:endCxn id="12" idx="1"/>
          </p:cNvCxnSpPr>
          <p:nvPr/>
        </p:nvCxnSpPr>
        <p:spPr>
          <a:xfrm>
            <a:off x="4702535" y="2611144"/>
            <a:ext cx="494642" cy="65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2" idx="0"/>
            <a:endCxn id="12" idx="1"/>
          </p:cNvCxnSpPr>
          <p:nvPr/>
        </p:nvCxnSpPr>
        <p:spPr>
          <a:xfrm flipV="1">
            <a:off x="4751380" y="2617677"/>
            <a:ext cx="445797" cy="73481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6" name="Straight Arrow Connector 15"/>
          <p:cNvCxnSpPr>
            <a:stCxn id="12" idx="3"/>
            <a:endCxn id="7" idx="1"/>
          </p:cNvCxnSpPr>
          <p:nvPr/>
        </p:nvCxnSpPr>
        <p:spPr>
          <a:xfrm>
            <a:off x="6203479" y="2617677"/>
            <a:ext cx="263767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7" name="Straight Arrow Connector 16"/>
          <p:cNvCxnSpPr>
            <a:stCxn id="7" idx="3"/>
            <a:endCxn id="18" idx="1"/>
          </p:cNvCxnSpPr>
          <p:nvPr/>
        </p:nvCxnSpPr>
        <p:spPr>
          <a:xfrm>
            <a:off x="6887323" y="2617677"/>
            <a:ext cx="2735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18" name="Rectangle 17"/>
          <p:cNvSpPr/>
          <p:nvPr/>
        </p:nvSpPr>
        <p:spPr>
          <a:xfrm>
            <a:off x="7160883" y="2340203"/>
            <a:ext cx="937826" cy="554948"/>
          </a:xfrm>
          <a:prstGeom prst="rect">
            <a:avLst/>
          </a:prstGeom>
          <a:ln>
            <a:prstDash val="soli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Threshold</a:t>
            </a:r>
            <a:endParaRPr lang="en-US" sz="1400" dirty="0"/>
          </a:p>
        </p:txBody>
      </p:sp>
      <p:cxnSp>
        <p:nvCxnSpPr>
          <p:cNvPr id="19" name="Straight Arrow Connector 18"/>
          <p:cNvCxnSpPr>
            <a:stCxn id="4" idx="3"/>
            <a:endCxn id="9" idx="1"/>
          </p:cNvCxnSpPr>
          <p:nvPr/>
        </p:nvCxnSpPr>
        <p:spPr>
          <a:xfrm flipV="1">
            <a:off x="2569308" y="2611144"/>
            <a:ext cx="1236773" cy="40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0" idx="3"/>
            <a:endCxn id="4" idx="1"/>
          </p:cNvCxnSpPr>
          <p:nvPr/>
        </p:nvCxnSpPr>
        <p:spPr>
          <a:xfrm flipV="1">
            <a:off x="1307188" y="2615149"/>
            <a:ext cx="304731" cy="252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Left Brace 32"/>
          <p:cNvSpPr/>
          <p:nvPr/>
        </p:nvSpPr>
        <p:spPr>
          <a:xfrm rot="16200000">
            <a:off x="3093728" y="3037917"/>
            <a:ext cx="185620" cy="31296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Left Brace 33"/>
          <p:cNvSpPr/>
          <p:nvPr/>
        </p:nvSpPr>
        <p:spPr>
          <a:xfrm rot="16200000">
            <a:off x="6530745" y="3186223"/>
            <a:ext cx="185620" cy="2833075"/>
          </a:xfrm>
          <a:prstGeom prst="lef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2735383" y="4856257"/>
            <a:ext cx="1686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Modeling phase</a:t>
            </a:r>
            <a:endParaRPr lang="en-US" dirty="0"/>
          </a:p>
        </p:txBody>
      </p:sp>
      <p:sp>
        <p:nvSpPr>
          <p:cNvPr id="36" name="TextBox 35"/>
          <p:cNvSpPr txBox="1"/>
          <p:nvPr/>
        </p:nvSpPr>
        <p:spPr>
          <a:xfrm>
            <a:off x="5888647" y="4856257"/>
            <a:ext cx="14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Testing phase</a:t>
            </a:r>
            <a:endParaRPr lang="en-US" dirty="0"/>
          </a:p>
        </p:txBody>
      </p:sp>
      <p:sp>
        <p:nvSpPr>
          <p:cNvPr id="44" name="Rectangle 43"/>
          <p:cNvSpPr/>
          <p:nvPr/>
        </p:nvSpPr>
        <p:spPr>
          <a:xfrm>
            <a:off x="2735380" y="2895151"/>
            <a:ext cx="869473" cy="685887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Subtype </a:t>
            </a:r>
            <a:r>
              <a:rPr lang="en-US" sz="1400" dirty="0" err="1" smtClean="0"/>
              <a:t>Indep</a:t>
            </a:r>
            <a:r>
              <a:rPr lang="en-US" sz="1400" dirty="0" smtClean="0"/>
              <a:t>. </a:t>
            </a:r>
            <a:endParaRPr lang="en-US" sz="1400" dirty="0"/>
          </a:p>
        </p:txBody>
      </p:sp>
      <p:cxnSp>
        <p:nvCxnSpPr>
          <p:cNvPr id="47" name="Straight Arrow Connector 46"/>
          <p:cNvCxnSpPr>
            <a:stCxn id="4" idx="3"/>
            <a:endCxn id="44" idx="1"/>
          </p:cNvCxnSpPr>
          <p:nvPr/>
        </p:nvCxnSpPr>
        <p:spPr>
          <a:xfrm>
            <a:off x="2569308" y="2615149"/>
            <a:ext cx="166072" cy="6229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44" idx="3"/>
            <a:endCxn id="9" idx="1"/>
          </p:cNvCxnSpPr>
          <p:nvPr/>
        </p:nvCxnSpPr>
        <p:spPr>
          <a:xfrm flipV="1">
            <a:off x="3604853" y="2611144"/>
            <a:ext cx="201228" cy="62695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193547" y="3352491"/>
            <a:ext cx="1115665" cy="987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 smtClean="0"/>
              <a:t>Patient </a:t>
            </a:r>
          </a:p>
          <a:p>
            <a:pPr algn="ctr">
              <a:lnSpc>
                <a:spcPct val="80000"/>
              </a:lnSpc>
            </a:pPr>
            <a:r>
              <a:rPr lang="en-US" dirty="0" smtClean="0"/>
              <a:t>x </a:t>
            </a:r>
          </a:p>
          <a:p>
            <a:pPr algn="ctr">
              <a:lnSpc>
                <a:spcPct val="80000"/>
              </a:lnSpc>
            </a:pPr>
            <a:r>
              <a:rPr lang="en-US" dirty="0" smtClean="0"/>
              <a:t>Features</a:t>
            </a:r>
          </a:p>
          <a:p>
            <a:pPr algn="ctr">
              <a:lnSpc>
                <a:spcPct val="80000"/>
              </a:lnSpc>
            </a:pPr>
            <a:r>
              <a:rPr lang="en-US" dirty="0" smtClean="0"/>
              <a:t>(test)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13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737024" y="225474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21582" y="225474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863422" y="1814137"/>
            <a:ext cx="283307" cy="283307"/>
          </a:xfrm>
          <a:prstGeom prst="rect">
            <a:avLst/>
          </a:prstGeom>
          <a:ln>
            <a:solidFill>
              <a:srgbClr val="C0504D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67519" y="2254740"/>
            <a:ext cx="283307" cy="283307"/>
          </a:xfrm>
          <a:prstGeom prst="rect">
            <a:avLst/>
          </a:prstGeom>
          <a:ln>
            <a:solidFill>
              <a:srgbClr val="C0504D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8661" y="2253763"/>
            <a:ext cx="283307" cy="283307"/>
          </a:xfrm>
          <a:prstGeom prst="rect">
            <a:avLst/>
          </a:prstGeom>
          <a:ln>
            <a:solidFill>
              <a:srgbClr val="C0504D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</a:t>
            </a:r>
            <a:endParaRPr lang="en-US" dirty="0"/>
          </a:p>
        </p:txBody>
      </p:sp>
      <p:cxnSp>
        <p:nvCxnSpPr>
          <p:cNvPr id="10" name="Straight Connector 9"/>
          <p:cNvCxnSpPr>
            <a:stCxn id="4" idx="3"/>
            <a:endCxn id="5" idx="1"/>
          </p:cNvCxnSpPr>
          <p:nvPr/>
        </p:nvCxnSpPr>
        <p:spPr>
          <a:xfrm>
            <a:off x="2020331" y="2396394"/>
            <a:ext cx="201251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1" name="Straight Connector 10"/>
          <p:cNvCxnSpPr>
            <a:stCxn id="5" idx="3"/>
            <a:endCxn id="6" idx="1"/>
          </p:cNvCxnSpPr>
          <p:nvPr/>
        </p:nvCxnSpPr>
        <p:spPr>
          <a:xfrm flipV="1">
            <a:off x="2504889" y="1955791"/>
            <a:ext cx="358533" cy="440603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2" name="Straight Connector 11"/>
          <p:cNvCxnSpPr>
            <a:stCxn id="6" idx="3"/>
            <a:endCxn id="7" idx="1"/>
          </p:cNvCxnSpPr>
          <p:nvPr/>
        </p:nvCxnSpPr>
        <p:spPr>
          <a:xfrm>
            <a:off x="3146729" y="1955791"/>
            <a:ext cx="220790" cy="440603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3" name="Straight Connector 12"/>
          <p:cNvCxnSpPr>
            <a:stCxn id="7" idx="3"/>
            <a:endCxn id="8" idx="1"/>
          </p:cNvCxnSpPr>
          <p:nvPr/>
        </p:nvCxnSpPr>
        <p:spPr>
          <a:xfrm flipV="1">
            <a:off x="3650826" y="2395417"/>
            <a:ext cx="2207835" cy="977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30" name="Rectangle 29"/>
          <p:cNvSpPr/>
          <p:nvPr/>
        </p:nvSpPr>
        <p:spPr>
          <a:xfrm>
            <a:off x="2231365" y="1814137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>
            <a:stCxn id="30" idx="3"/>
            <a:endCxn id="6" idx="1"/>
          </p:cNvCxnSpPr>
          <p:nvPr/>
        </p:nvCxnSpPr>
        <p:spPr>
          <a:xfrm>
            <a:off x="2514672" y="1955791"/>
            <a:ext cx="348750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4" name="Straight Connector 33"/>
          <p:cNvCxnSpPr>
            <a:stCxn id="5" idx="3"/>
            <a:endCxn id="7" idx="1"/>
          </p:cNvCxnSpPr>
          <p:nvPr/>
        </p:nvCxnSpPr>
        <p:spPr>
          <a:xfrm>
            <a:off x="2504889" y="2396394"/>
            <a:ext cx="862630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7" name="Straight Connector 36"/>
          <p:cNvCxnSpPr>
            <a:stCxn id="30" idx="3"/>
            <a:endCxn id="7" idx="1"/>
          </p:cNvCxnSpPr>
          <p:nvPr/>
        </p:nvCxnSpPr>
        <p:spPr>
          <a:xfrm>
            <a:off x="2514672" y="1955791"/>
            <a:ext cx="852847" cy="440603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50" name="Rectangle 49"/>
          <p:cNvSpPr/>
          <p:nvPr/>
        </p:nvSpPr>
        <p:spPr>
          <a:xfrm>
            <a:off x="3953672" y="1649026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4438230" y="1649026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053644" y="1185974"/>
            <a:ext cx="283307" cy="283307"/>
          </a:xfrm>
          <a:prstGeom prst="rect">
            <a:avLst/>
          </a:prstGeom>
          <a:ln>
            <a:solidFill>
              <a:srgbClr val="C0504D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cxnSp>
        <p:nvCxnSpPr>
          <p:cNvPr id="53" name="Straight Connector 52"/>
          <p:cNvCxnSpPr>
            <a:stCxn id="50" idx="3"/>
            <a:endCxn id="51" idx="1"/>
          </p:cNvCxnSpPr>
          <p:nvPr/>
        </p:nvCxnSpPr>
        <p:spPr>
          <a:xfrm>
            <a:off x="4236979" y="1790680"/>
            <a:ext cx="201251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54" name="Straight Connector 53"/>
          <p:cNvCxnSpPr>
            <a:stCxn id="51" idx="3"/>
            <a:endCxn id="52" idx="1"/>
          </p:cNvCxnSpPr>
          <p:nvPr/>
        </p:nvCxnSpPr>
        <p:spPr>
          <a:xfrm flipV="1">
            <a:off x="4721537" y="1327628"/>
            <a:ext cx="332107" cy="463052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55" name="Rectangle 54"/>
          <p:cNvSpPr/>
          <p:nvPr/>
        </p:nvSpPr>
        <p:spPr>
          <a:xfrm>
            <a:off x="4421587" y="1185974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>
            <a:stCxn id="55" idx="3"/>
            <a:endCxn id="52" idx="1"/>
          </p:cNvCxnSpPr>
          <p:nvPr/>
        </p:nvCxnSpPr>
        <p:spPr>
          <a:xfrm>
            <a:off x="4704894" y="1327628"/>
            <a:ext cx="348750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2" name="Straight Connector 61"/>
          <p:cNvCxnSpPr>
            <a:stCxn id="51" idx="3"/>
            <a:endCxn id="8" idx="1"/>
          </p:cNvCxnSpPr>
          <p:nvPr/>
        </p:nvCxnSpPr>
        <p:spPr>
          <a:xfrm>
            <a:off x="4721537" y="1790680"/>
            <a:ext cx="1137124" cy="604737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5" name="Straight Connector 64"/>
          <p:cNvCxnSpPr>
            <a:stCxn id="55" idx="3"/>
            <a:endCxn id="8" idx="1"/>
          </p:cNvCxnSpPr>
          <p:nvPr/>
        </p:nvCxnSpPr>
        <p:spPr>
          <a:xfrm>
            <a:off x="4704894" y="1327628"/>
            <a:ext cx="1153767" cy="1067789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68" name="Straight Connector 67"/>
          <p:cNvCxnSpPr>
            <a:stCxn id="52" idx="3"/>
            <a:endCxn id="8" idx="1"/>
          </p:cNvCxnSpPr>
          <p:nvPr/>
        </p:nvCxnSpPr>
        <p:spPr>
          <a:xfrm>
            <a:off x="5336951" y="1327628"/>
            <a:ext cx="521710" cy="1067789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84" name="Rectangle 83"/>
          <p:cNvSpPr/>
          <p:nvPr/>
        </p:nvSpPr>
        <p:spPr>
          <a:xfrm>
            <a:off x="6414547" y="2253763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957716" y="2253763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7569270" y="2253763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8141747" y="2254740"/>
            <a:ext cx="283307" cy="2833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8" name="Straight Connector 87"/>
          <p:cNvCxnSpPr>
            <a:stCxn id="8" idx="3"/>
            <a:endCxn id="84" idx="1"/>
          </p:cNvCxnSpPr>
          <p:nvPr/>
        </p:nvCxnSpPr>
        <p:spPr>
          <a:xfrm>
            <a:off x="6141968" y="2395417"/>
            <a:ext cx="272579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1" name="Straight Connector 90"/>
          <p:cNvCxnSpPr>
            <a:stCxn id="84" idx="3"/>
            <a:endCxn id="85" idx="1"/>
          </p:cNvCxnSpPr>
          <p:nvPr/>
        </p:nvCxnSpPr>
        <p:spPr>
          <a:xfrm>
            <a:off x="6697854" y="2395417"/>
            <a:ext cx="259862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4" name="Straight Connector 93"/>
          <p:cNvCxnSpPr>
            <a:stCxn id="85" idx="3"/>
            <a:endCxn id="86" idx="1"/>
          </p:cNvCxnSpPr>
          <p:nvPr/>
        </p:nvCxnSpPr>
        <p:spPr>
          <a:xfrm>
            <a:off x="7241023" y="2395417"/>
            <a:ext cx="328247" cy="0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97" name="Straight Connector 96"/>
          <p:cNvCxnSpPr>
            <a:stCxn id="86" idx="3"/>
            <a:endCxn id="87" idx="1"/>
          </p:cNvCxnSpPr>
          <p:nvPr/>
        </p:nvCxnSpPr>
        <p:spPr>
          <a:xfrm>
            <a:off x="7852577" y="2395417"/>
            <a:ext cx="289170" cy="977"/>
          </a:xfrm>
          <a:prstGeom prst="lin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03" name="TextBox 102"/>
          <p:cNvSpPr txBox="1"/>
          <p:nvPr/>
        </p:nvSpPr>
        <p:spPr>
          <a:xfrm>
            <a:off x="302846" y="2073228"/>
            <a:ext cx="945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Training</a:t>
            </a:r>
          </a:p>
          <a:p>
            <a:r>
              <a:rPr lang="en-US" dirty="0" smtClean="0"/>
              <a:t>Matrix</a:t>
            </a:r>
            <a:endParaRPr lang="en-US" dirty="0"/>
          </a:p>
        </p:txBody>
      </p:sp>
      <p:sp>
        <p:nvSpPr>
          <p:cNvPr id="104" name="TextBox 103"/>
          <p:cNvSpPr txBox="1"/>
          <p:nvPr/>
        </p:nvSpPr>
        <p:spPr>
          <a:xfrm>
            <a:off x="2647368" y="1019901"/>
            <a:ext cx="80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Test</a:t>
            </a:r>
          </a:p>
          <a:p>
            <a:r>
              <a:rPr lang="en-US" dirty="0" smtClean="0"/>
              <a:t>Matrix</a:t>
            </a:r>
            <a:endParaRPr lang="en-US" dirty="0"/>
          </a:p>
        </p:txBody>
      </p:sp>
      <p:cxnSp>
        <p:nvCxnSpPr>
          <p:cNvPr id="106" name="Straight Arrow Connector 105"/>
          <p:cNvCxnSpPr>
            <a:stCxn id="103" idx="3"/>
            <a:endCxn id="4" idx="1"/>
          </p:cNvCxnSpPr>
          <p:nvPr/>
        </p:nvCxnSpPr>
        <p:spPr>
          <a:xfrm>
            <a:off x="1248199" y="2396394"/>
            <a:ext cx="48882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/>
          <p:cNvCxnSpPr>
            <a:stCxn id="103" idx="3"/>
            <a:endCxn id="30" idx="1"/>
          </p:cNvCxnSpPr>
          <p:nvPr/>
        </p:nvCxnSpPr>
        <p:spPr>
          <a:xfrm flipV="1">
            <a:off x="1248199" y="1955791"/>
            <a:ext cx="983166" cy="44060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>
            <a:stCxn id="104" idx="3"/>
            <a:endCxn id="50" idx="1"/>
          </p:cNvCxnSpPr>
          <p:nvPr/>
        </p:nvCxnSpPr>
        <p:spPr>
          <a:xfrm>
            <a:off x="3450705" y="1343067"/>
            <a:ext cx="502967" cy="44761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stCxn id="104" idx="3"/>
            <a:endCxn id="55" idx="1"/>
          </p:cNvCxnSpPr>
          <p:nvPr/>
        </p:nvCxnSpPr>
        <p:spPr>
          <a:xfrm flipV="1">
            <a:off x="3450705" y="1327628"/>
            <a:ext cx="970882" cy="1543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Left Brace 116"/>
          <p:cNvSpPr/>
          <p:nvPr/>
        </p:nvSpPr>
        <p:spPr>
          <a:xfrm rot="16200000">
            <a:off x="2543449" y="1829775"/>
            <a:ext cx="185621" cy="202913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Left Brace 117"/>
          <p:cNvSpPr/>
          <p:nvPr/>
        </p:nvSpPr>
        <p:spPr>
          <a:xfrm rot="16200000">
            <a:off x="6081356" y="460655"/>
            <a:ext cx="185620" cy="4767368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/>
          <p:cNvSpPr txBox="1"/>
          <p:nvPr/>
        </p:nvSpPr>
        <p:spPr>
          <a:xfrm>
            <a:off x="1800709" y="3097837"/>
            <a:ext cx="1686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Modeling phase</a:t>
            </a:r>
            <a:endParaRPr lang="en-US" dirty="0"/>
          </a:p>
        </p:txBody>
      </p:sp>
      <p:sp>
        <p:nvSpPr>
          <p:cNvPr id="120" name="TextBox 119"/>
          <p:cNvSpPr txBox="1"/>
          <p:nvPr/>
        </p:nvSpPr>
        <p:spPr>
          <a:xfrm>
            <a:off x="5439273" y="3097837"/>
            <a:ext cx="14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Testing phase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259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202673"/>
              </p:ext>
            </p:extLst>
          </p:nvPr>
        </p:nvGraphicFramePr>
        <p:xfrm>
          <a:off x="1600200" y="381000"/>
          <a:ext cx="1475155" cy="1732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5031"/>
                <a:gridCol w="295031"/>
                <a:gridCol w="295031"/>
                <a:gridCol w="295031"/>
                <a:gridCol w="295031"/>
              </a:tblGrid>
              <a:tr h="289169"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650763"/>
              </p:ext>
            </p:extLst>
          </p:nvPr>
        </p:nvGraphicFramePr>
        <p:xfrm>
          <a:off x="4607169" y="1397000"/>
          <a:ext cx="1475155" cy="1732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5031"/>
                <a:gridCol w="295031"/>
                <a:gridCol w="295031"/>
                <a:gridCol w="295031"/>
                <a:gridCol w="295031"/>
              </a:tblGrid>
              <a:tr h="289169"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289169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</a:tr>
            </a:tbl>
          </a:graphicData>
        </a:graphic>
      </p:graphicFrame>
      <p:cxnSp>
        <p:nvCxnSpPr>
          <p:cNvPr id="10" name="Straight Arrow Connector 9"/>
          <p:cNvCxnSpPr/>
          <p:nvPr/>
        </p:nvCxnSpPr>
        <p:spPr>
          <a:xfrm>
            <a:off x="2813538" y="1289538"/>
            <a:ext cx="2139462" cy="90853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901348"/>
              </p:ext>
            </p:extLst>
          </p:nvPr>
        </p:nvGraphicFramePr>
        <p:xfrm>
          <a:off x="1600200" y="2868246"/>
          <a:ext cx="1475155" cy="1732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5031"/>
                <a:gridCol w="295031"/>
                <a:gridCol w="295031"/>
                <a:gridCol w="295031"/>
                <a:gridCol w="295031"/>
              </a:tblGrid>
              <a:tr h="0"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0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0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0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>
                    <a:solidFill>
                      <a:srgbClr val="EC802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</a:tr>
              <a:tr h="0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L="87389" marR="87389" marT="43694" marB="4369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L="87389" marR="87389" marT="43694" marB="43694"/>
                </a:tc>
              </a:tr>
            </a:tbl>
          </a:graphicData>
        </a:graphic>
      </p:graphicFrame>
      <p:cxnSp>
        <p:nvCxnSpPr>
          <p:cNvPr id="17" name="Straight Arrow Connector 16"/>
          <p:cNvCxnSpPr/>
          <p:nvPr/>
        </p:nvCxnSpPr>
        <p:spPr>
          <a:xfrm flipV="1">
            <a:off x="2813538" y="2198078"/>
            <a:ext cx="2139462" cy="1191845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8226" y="2159001"/>
            <a:ext cx="295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2098226" y="4704863"/>
            <a:ext cx="30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241" y="3205257"/>
            <a:ext cx="282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01300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591232"/>
              </p:ext>
            </p:extLst>
          </p:nvPr>
        </p:nvGraphicFramePr>
        <p:xfrm>
          <a:off x="2569308" y="703385"/>
          <a:ext cx="888999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33"/>
                <a:gridCol w="296333"/>
                <a:gridCol w="296333"/>
              </a:tblGrid>
              <a:tr h="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 smtClean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09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584933"/>
              </p:ext>
            </p:extLst>
          </p:nvPr>
        </p:nvGraphicFramePr>
        <p:xfrm>
          <a:off x="5672015" y="703385"/>
          <a:ext cx="888999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33"/>
                <a:gridCol w="296333"/>
                <a:gridCol w="296333"/>
              </a:tblGrid>
              <a:tr h="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 smtClean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09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5653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061308" y="762000"/>
            <a:ext cx="449384" cy="44938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>
            <a:stCxn id="4" idx="6"/>
            <a:endCxn id="14" idx="1"/>
          </p:cNvCxnSpPr>
          <p:nvPr/>
        </p:nvCxnSpPr>
        <p:spPr>
          <a:xfrm flipV="1">
            <a:off x="2510692" y="976923"/>
            <a:ext cx="2506781" cy="976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061308" y="1842465"/>
            <a:ext cx="449384" cy="44938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stCxn id="8" idx="6"/>
          </p:cNvCxnSpPr>
          <p:nvPr/>
        </p:nvCxnSpPr>
        <p:spPr>
          <a:xfrm>
            <a:off x="2510692" y="2067157"/>
            <a:ext cx="232117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061308" y="2895576"/>
            <a:ext cx="449384" cy="44938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>
            <a:stCxn id="11" idx="6"/>
          </p:cNvCxnSpPr>
          <p:nvPr/>
        </p:nvCxnSpPr>
        <p:spPr>
          <a:xfrm>
            <a:off x="2510692" y="3120268"/>
            <a:ext cx="232117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17473" y="792257"/>
            <a:ext cx="299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*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2872161" y="1026718"/>
            <a:ext cx="1602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MAP</a:t>
            </a:r>
            <a:r>
              <a:rPr lang="en-US" baseline="-25000" dirty="0" err="1" smtClean="0"/>
              <a:t>f</a:t>
            </a:r>
            <a:r>
              <a:rPr lang="en-US" dirty="0" smtClean="0"/>
              <a:t>(), </a:t>
            </a:r>
            <a:r>
              <a:rPr lang="en-US" dirty="0" err="1" smtClean="0"/>
              <a:t>MAP</a:t>
            </a:r>
            <a:r>
              <a:rPr lang="en-US" baseline="-25000" dirty="0" err="1" smtClean="0"/>
              <a:t>b</a:t>
            </a:r>
            <a:r>
              <a:rPr lang="en-US" dirty="0" smtClean="0"/>
              <a:t>()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3194538" y="2091562"/>
            <a:ext cx="85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MAP</a:t>
            </a:r>
            <a:r>
              <a:rPr lang="en-US" baseline="-25000" dirty="0" smtClean="0"/>
              <a:t>2</a:t>
            </a:r>
            <a:r>
              <a:rPr lang="en-US" dirty="0" smtClean="0"/>
              <a:t>()</a:t>
            </a:r>
            <a:endParaRPr lang="en-US" dirty="0"/>
          </a:p>
        </p:txBody>
      </p:sp>
      <p:sp>
        <p:nvSpPr>
          <p:cNvPr id="18" name="Can 17"/>
          <p:cNvSpPr/>
          <p:nvPr/>
        </p:nvSpPr>
        <p:spPr>
          <a:xfrm>
            <a:off x="4831862" y="1842465"/>
            <a:ext cx="707292" cy="433763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328081" y="2291849"/>
            <a:ext cx="1906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</a:t>
            </a:r>
            <a:r>
              <a:rPr lang="en-US" dirty="0" err="1" smtClean="0"/>
              <a:t>outcells</a:t>
            </a:r>
            <a:r>
              <a:rPr lang="en-US" dirty="0" smtClean="0"/>
              <a:t>, payload)</a:t>
            </a:r>
            <a:endParaRPr lang="en-US" dirty="0"/>
          </a:p>
        </p:txBody>
      </p:sp>
      <p:sp>
        <p:nvSpPr>
          <p:cNvPr id="21" name="Can 20"/>
          <p:cNvSpPr/>
          <p:nvPr/>
        </p:nvSpPr>
        <p:spPr>
          <a:xfrm>
            <a:off x="4841824" y="2867215"/>
            <a:ext cx="707292" cy="433763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4338043" y="3316599"/>
            <a:ext cx="174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</a:t>
            </a:r>
            <a:r>
              <a:rPr lang="en-US" dirty="0" err="1" smtClean="0"/>
              <a:t>outcells</a:t>
            </a:r>
            <a:r>
              <a:rPr lang="en-US" dirty="0" smtClean="0"/>
              <a:t>, </a:t>
            </a:r>
            <a:r>
              <a:rPr lang="en-US" dirty="0" err="1" smtClean="0"/>
              <a:t>incells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1184742" y="746260"/>
            <a:ext cx="45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(1)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74035" y="1882491"/>
            <a:ext cx="45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(2)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97704" y="2917014"/>
            <a:ext cx="45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(3)</a:t>
            </a:r>
            <a:endParaRPr lang="en-US" dirty="0">
              <a:latin typeface="Times"/>
              <a:cs typeface="Times"/>
            </a:endParaRPr>
          </a:p>
        </p:txBody>
      </p:sp>
    </p:spTree>
    <p:extLst>
      <p:ext uri="{BB962C8B-B14F-4D97-AF65-F5344CB8AC3E}">
        <p14:creationId xmlns:p14="http://schemas.microsoft.com/office/powerpoint/2010/main" val="1823158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flipH="1">
            <a:off x="1758462" y="2764692"/>
            <a:ext cx="4796692" cy="0"/>
          </a:xfrm>
          <a:prstGeom prst="line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68495" y="2813546"/>
            <a:ext cx="2080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Coarse-grained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1139092" y="2813546"/>
            <a:ext cx="17525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Fine-grained</a:t>
            </a:r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5212209" y="2012452"/>
            <a:ext cx="264687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/>
              <a:t>Query log</a:t>
            </a:r>
          </a:p>
          <a:p>
            <a:pPr algn="ctr"/>
            <a:r>
              <a:rPr lang="en-US" sz="1600" dirty="0" smtClean="0">
                <a:solidFill>
                  <a:srgbClr val="4F81BD"/>
                </a:solidFill>
              </a:rPr>
              <a:t>Queries must rerun workflow</a:t>
            </a:r>
            <a:endParaRPr lang="en-US" sz="1600" dirty="0">
              <a:solidFill>
                <a:srgbClr val="4F81BD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4077" y="2012452"/>
            <a:ext cx="254118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/>
              <a:t>Store all pointers</a:t>
            </a:r>
          </a:p>
          <a:p>
            <a:pPr algn="ctr"/>
            <a:r>
              <a:rPr lang="en-US" sz="1600" dirty="0" smtClean="0">
                <a:solidFill>
                  <a:schemeClr val="accent1"/>
                </a:solidFill>
              </a:rPr>
              <a:t>Overwhelms storage system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2" name="Right Brace 11"/>
          <p:cNvSpPr/>
          <p:nvPr/>
        </p:nvSpPr>
        <p:spPr>
          <a:xfrm rot="16200000">
            <a:off x="4042018" y="-573949"/>
            <a:ext cx="229581" cy="479669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5549" y="1006222"/>
            <a:ext cx="393178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 smtClean="0"/>
              <a:t>SubZero</a:t>
            </a:r>
            <a:r>
              <a:rPr lang="en-US" dirty="0" smtClean="0"/>
              <a:t>:</a:t>
            </a:r>
          </a:p>
          <a:p>
            <a:pPr algn="ctr"/>
            <a:r>
              <a:rPr lang="en-US" sz="1600" dirty="0" smtClean="0">
                <a:solidFill>
                  <a:srgbClr val="4F81BD"/>
                </a:solidFill>
              </a:rPr>
              <a:t>Encompasses continuum of hybrid strategies</a:t>
            </a:r>
          </a:p>
        </p:txBody>
      </p:sp>
    </p:spTree>
    <p:extLst>
      <p:ext uri="{BB962C8B-B14F-4D97-AF65-F5344CB8AC3E}">
        <p14:creationId xmlns:p14="http://schemas.microsoft.com/office/powerpoint/2010/main" val="2066465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896648" y="6077260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439825" y="6077260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262790" y="6077260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15736" y="6077260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5008026" y="6295927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0" name="Rectangle 9"/>
          <p:cNvSpPr/>
          <p:nvPr/>
        </p:nvSpPr>
        <p:spPr>
          <a:xfrm>
            <a:off x="3896648" y="3176267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4439825" y="3176267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262790" y="3176267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262790" y="3694046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5008026" y="3394934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5" name="Rectangle 14"/>
          <p:cNvSpPr/>
          <p:nvPr/>
        </p:nvSpPr>
        <p:spPr>
          <a:xfrm>
            <a:off x="3896648" y="3694046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4439825" y="3694046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5008026" y="3893175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8" name="Rectangle 17"/>
          <p:cNvSpPr/>
          <p:nvPr/>
        </p:nvSpPr>
        <p:spPr>
          <a:xfrm>
            <a:off x="3896648" y="4952356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4439825" y="4952356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6262790" y="4706141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262790" y="5262996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cxnSp>
        <p:nvCxnSpPr>
          <p:cNvPr id="22" name="Straight Arrow Connector 21"/>
          <p:cNvCxnSpPr>
            <a:stCxn id="26" idx="3"/>
            <a:endCxn id="20" idx="1"/>
          </p:cNvCxnSpPr>
          <p:nvPr/>
        </p:nvCxnSpPr>
        <p:spPr>
          <a:xfrm flipV="1">
            <a:off x="5840738" y="4925949"/>
            <a:ext cx="422052" cy="248010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25" name="Straight Arrow Connector 24"/>
          <p:cNvCxnSpPr>
            <a:stCxn id="26" idx="3"/>
            <a:endCxn id="21" idx="1"/>
          </p:cNvCxnSpPr>
          <p:nvPr/>
        </p:nvCxnSpPr>
        <p:spPr>
          <a:xfrm>
            <a:off x="5840738" y="5173959"/>
            <a:ext cx="422052" cy="308845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26" name="TextBox 25"/>
          <p:cNvSpPr txBox="1"/>
          <p:nvPr/>
        </p:nvSpPr>
        <p:spPr>
          <a:xfrm>
            <a:off x="5293662" y="4989293"/>
            <a:ext cx="54707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/>
              <a:t>ref</a:t>
            </a:r>
            <a:endParaRPr lang="en-US" dirty="0"/>
          </a:p>
        </p:txBody>
      </p:sp>
      <p:cxnSp>
        <p:nvCxnSpPr>
          <p:cNvPr id="29" name="Straight Arrow Connector 28"/>
          <p:cNvCxnSpPr>
            <a:stCxn id="19" idx="3"/>
            <a:endCxn id="26" idx="1"/>
          </p:cNvCxnSpPr>
          <p:nvPr/>
        </p:nvCxnSpPr>
        <p:spPr>
          <a:xfrm>
            <a:off x="4879440" y="5172164"/>
            <a:ext cx="414222" cy="1795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63" name="Rectangle 62"/>
          <p:cNvSpPr/>
          <p:nvPr/>
        </p:nvSpPr>
        <p:spPr>
          <a:xfrm>
            <a:off x="4439825" y="796011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65" name="Rectangle 64"/>
          <p:cNvSpPr/>
          <p:nvPr/>
        </p:nvSpPr>
        <p:spPr>
          <a:xfrm>
            <a:off x="6262790" y="791130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66" name="Rectangle 65"/>
          <p:cNvSpPr/>
          <p:nvPr/>
        </p:nvSpPr>
        <p:spPr>
          <a:xfrm>
            <a:off x="6262790" y="1308909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5008026" y="1009797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69" name="Rectangle 68"/>
          <p:cNvSpPr/>
          <p:nvPr/>
        </p:nvSpPr>
        <p:spPr>
          <a:xfrm>
            <a:off x="4439825" y="1308909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5008026" y="1508038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71" name="Rectangle 70"/>
          <p:cNvSpPr/>
          <p:nvPr/>
        </p:nvSpPr>
        <p:spPr>
          <a:xfrm>
            <a:off x="4439825" y="1847191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73" name="Rectangle 72"/>
          <p:cNvSpPr/>
          <p:nvPr/>
        </p:nvSpPr>
        <p:spPr>
          <a:xfrm>
            <a:off x="6262790" y="1842310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2790" y="2360089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5008026" y="2060977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77" name="Rectangle 76"/>
          <p:cNvSpPr/>
          <p:nvPr/>
        </p:nvSpPr>
        <p:spPr>
          <a:xfrm>
            <a:off x="4439825" y="2360089"/>
            <a:ext cx="439615" cy="4396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US" dirty="0"/>
          </a:p>
        </p:txBody>
      </p:sp>
      <p:cxnSp>
        <p:nvCxnSpPr>
          <p:cNvPr id="78" name="Straight Arrow Connector 77"/>
          <p:cNvCxnSpPr/>
          <p:nvPr/>
        </p:nvCxnSpPr>
        <p:spPr>
          <a:xfrm>
            <a:off x="5008026" y="2559218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81" name="TextBox 80"/>
          <p:cNvSpPr txBox="1"/>
          <p:nvPr/>
        </p:nvSpPr>
        <p:spPr>
          <a:xfrm>
            <a:off x="3872865" y="185617"/>
            <a:ext cx="11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BDB value</a:t>
            </a:r>
            <a:endParaRPr lang="en-US" dirty="0"/>
          </a:p>
        </p:txBody>
      </p:sp>
      <p:sp>
        <p:nvSpPr>
          <p:cNvPr id="82" name="TextBox 81"/>
          <p:cNvSpPr txBox="1"/>
          <p:nvPr/>
        </p:nvSpPr>
        <p:spPr>
          <a:xfrm>
            <a:off x="6135068" y="185617"/>
            <a:ext cx="954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BDB key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2973491" y="6096799"/>
            <a:ext cx="45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(d)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973491" y="3420484"/>
            <a:ext cx="45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(b)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973491" y="4989293"/>
            <a:ext cx="440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(c)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986453" y="1563858"/>
            <a:ext cx="440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(a)</a:t>
            </a:r>
            <a:endParaRPr lang="en-US" dirty="0">
              <a:latin typeface="Times"/>
              <a:cs typeface="Times"/>
            </a:endParaRPr>
          </a:p>
        </p:txBody>
      </p:sp>
    </p:spTree>
    <p:extLst>
      <p:ext uri="{BB962C8B-B14F-4D97-AF65-F5344CB8AC3E}">
        <p14:creationId xmlns:p14="http://schemas.microsoft.com/office/powerpoint/2010/main" val="3773814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322118" y="837049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(0,1), (2,3)</a:t>
            </a:r>
            <a:endParaRPr lang="en-US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5067354" y="1055716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2" name="Rectangle 11"/>
          <p:cNvSpPr/>
          <p:nvPr/>
        </p:nvSpPr>
        <p:spPr>
          <a:xfrm>
            <a:off x="6322118" y="1970756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(0,1)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322118" y="2410383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(2,3)</a:t>
            </a:r>
            <a:endParaRPr lang="en-US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5067354" y="2189423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067354" y="2609512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26" name="TextBox 25"/>
          <p:cNvSpPr txBox="1"/>
          <p:nvPr/>
        </p:nvSpPr>
        <p:spPr>
          <a:xfrm>
            <a:off x="4292932" y="3447550"/>
            <a:ext cx="54707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/>
              <a:t>ref</a:t>
            </a:r>
            <a:endParaRPr lang="en-US" dirty="0"/>
          </a:p>
        </p:txBody>
      </p:sp>
      <p:sp>
        <p:nvSpPr>
          <p:cNvPr id="81" name="TextBox 80"/>
          <p:cNvSpPr txBox="1"/>
          <p:nvPr/>
        </p:nvSpPr>
        <p:spPr>
          <a:xfrm>
            <a:off x="4146397" y="185617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Incells</a:t>
            </a:r>
            <a:endParaRPr lang="en-US" dirty="0"/>
          </a:p>
        </p:txBody>
      </p:sp>
      <p:sp>
        <p:nvSpPr>
          <p:cNvPr id="82" name="TextBox 81"/>
          <p:cNvSpPr txBox="1"/>
          <p:nvPr/>
        </p:nvSpPr>
        <p:spPr>
          <a:xfrm>
            <a:off x="6330448" y="185617"/>
            <a:ext cx="944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Outcells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4058296" y="1237592"/>
            <a:ext cx="2854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1. (MANY, MANY) 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955976" y="5509171"/>
            <a:ext cx="752793" cy="336734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box</a:t>
            </a:r>
            <a:endParaRPr lang="en-US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5067354" y="5727837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53" name="Rectangle 52"/>
          <p:cNvSpPr/>
          <p:nvPr/>
        </p:nvSpPr>
        <p:spPr>
          <a:xfrm>
            <a:off x="3955976" y="5899953"/>
            <a:ext cx="752793" cy="336734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box</a:t>
            </a:r>
            <a:endParaRPr lang="en-US" dirty="0"/>
          </a:p>
        </p:txBody>
      </p:sp>
      <p:cxnSp>
        <p:nvCxnSpPr>
          <p:cNvPr id="55" name="Straight Arrow Connector 54"/>
          <p:cNvCxnSpPr/>
          <p:nvPr/>
        </p:nvCxnSpPr>
        <p:spPr>
          <a:xfrm>
            <a:off x="5067354" y="6099081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38" name="TextBox 37"/>
          <p:cNvSpPr txBox="1"/>
          <p:nvPr/>
        </p:nvSpPr>
        <p:spPr>
          <a:xfrm>
            <a:off x="6307894" y="4357112"/>
            <a:ext cx="54707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/>
              <a:t>ref</a:t>
            </a:r>
            <a:endParaRPr 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4293999" y="3873860"/>
            <a:ext cx="54707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/>
              <a:t>ref</a:t>
            </a:r>
            <a:endParaRPr lang="en-US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5067354" y="3662629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5067354" y="4092487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5067354" y="4567272"/>
            <a:ext cx="1150225" cy="602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54" name="TextBox 53"/>
          <p:cNvSpPr txBox="1"/>
          <p:nvPr/>
        </p:nvSpPr>
        <p:spPr>
          <a:xfrm>
            <a:off x="4058296" y="2796824"/>
            <a:ext cx="2652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2. (ONE, MANY) 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146397" y="4776068"/>
            <a:ext cx="2370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3. (ONE, REF) 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46397" y="6325465"/>
            <a:ext cx="2434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latin typeface="Times"/>
                <a:cs typeface="Times"/>
              </a:rPr>
              <a:t>4. </a:t>
            </a:r>
            <a:r>
              <a:rPr lang="en-US" dirty="0" smtClean="0">
                <a:latin typeface="Times"/>
                <a:cs typeface="Times"/>
              </a:rPr>
              <a:t>(ONE, BOX) 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3707270" y="837049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(4,5),(6,7)</a:t>
            </a:r>
            <a:endParaRPr lang="en-US" dirty="0"/>
          </a:p>
        </p:txBody>
      </p:sp>
      <p:sp>
        <p:nvSpPr>
          <p:cNvPr id="59" name="Rectangle 58"/>
          <p:cNvSpPr/>
          <p:nvPr/>
        </p:nvSpPr>
        <p:spPr>
          <a:xfrm>
            <a:off x="3715074" y="1970756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(4,5),(6,7)</a:t>
            </a:r>
            <a:endParaRPr lang="en-US" dirty="0"/>
          </a:p>
        </p:txBody>
      </p:sp>
      <p:sp>
        <p:nvSpPr>
          <p:cNvPr id="60" name="Rectangle 59"/>
          <p:cNvSpPr/>
          <p:nvPr/>
        </p:nvSpPr>
        <p:spPr>
          <a:xfrm>
            <a:off x="3708558" y="2410383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(4,5),(6,7)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6330448" y="3490514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(0,1)</a:t>
            </a:r>
            <a:endParaRPr lang="en-US" dirty="0"/>
          </a:p>
        </p:txBody>
      </p:sp>
      <p:sp>
        <p:nvSpPr>
          <p:cNvPr id="64" name="Rectangle 63"/>
          <p:cNvSpPr/>
          <p:nvPr/>
        </p:nvSpPr>
        <p:spPr>
          <a:xfrm>
            <a:off x="6330448" y="3930141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(2,3)</a:t>
            </a:r>
            <a:endParaRPr lang="en-US" dirty="0"/>
          </a:p>
        </p:txBody>
      </p:sp>
      <p:sp>
        <p:nvSpPr>
          <p:cNvPr id="65" name="Rectangle 64"/>
          <p:cNvSpPr/>
          <p:nvPr/>
        </p:nvSpPr>
        <p:spPr>
          <a:xfrm>
            <a:off x="3707270" y="4389709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(4,5),(6,7)</a:t>
            </a:r>
            <a:endParaRPr lang="en-US" dirty="0"/>
          </a:p>
        </p:txBody>
      </p:sp>
      <p:sp>
        <p:nvSpPr>
          <p:cNvPr id="66" name="Rectangle 65"/>
          <p:cNvSpPr/>
          <p:nvPr/>
        </p:nvSpPr>
        <p:spPr>
          <a:xfrm>
            <a:off x="6322118" y="5460325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(0,1)</a:t>
            </a:r>
            <a:endParaRPr lang="en-US" dirty="0"/>
          </a:p>
        </p:txBody>
      </p:sp>
      <p:sp>
        <p:nvSpPr>
          <p:cNvPr id="67" name="Rectangle 66"/>
          <p:cNvSpPr/>
          <p:nvPr/>
        </p:nvSpPr>
        <p:spPr>
          <a:xfrm>
            <a:off x="6322118" y="5899952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(2,3)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70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135871" y="2753015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(0,1), (2,3)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1881107" y="2971682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26" name="TextBox 25"/>
          <p:cNvSpPr txBox="1"/>
          <p:nvPr/>
        </p:nvSpPr>
        <p:spPr>
          <a:xfrm>
            <a:off x="5001846" y="2014351"/>
            <a:ext cx="80111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#1234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50532" y="1548235"/>
            <a:ext cx="1379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Hash Value</a:t>
            </a:r>
            <a:endParaRPr lang="en-US" sz="2000" b="1" dirty="0"/>
          </a:p>
        </p:txBody>
      </p:sp>
      <p:sp>
        <p:nvSpPr>
          <p:cNvPr id="82" name="TextBox 81"/>
          <p:cNvSpPr txBox="1"/>
          <p:nvPr/>
        </p:nvSpPr>
        <p:spPr>
          <a:xfrm>
            <a:off x="3144881" y="1548235"/>
            <a:ext cx="1161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Hash Key</a:t>
            </a:r>
            <a:endParaRPr lang="en-US" sz="2000" b="1" dirty="0"/>
          </a:p>
        </p:txBody>
      </p:sp>
      <p:sp>
        <p:nvSpPr>
          <p:cNvPr id="83" name="TextBox 82"/>
          <p:cNvSpPr txBox="1"/>
          <p:nvPr/>
        </p:nvSpPr>
        <p:spPr>
          <a:xfrm>
            <a:off x="1435102" y="3178592"/>
            <a:ext cx="211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1. </a:t>
            </a:r>
            <a:r>
              <a:rPr lang="en-US" dirty="0" err="1" smtClean="0">
                <a:latin typeface="Times"/>
                <a:cs typeface="Times"/>
              </a:rPr>
              <a:t>FullMany</a:t>
            </a:r>
            <a:r>
              <a:rPr lang="en-US" dirty="0" smtClean="0">
                <a:latin typeface="Times"/>
                <a:cs typeface="Times"/>
              </a:rPr>
              <a:t> </a:t>
            </a:r>
            <a:r>
              <a:rPr lang="en-US" dirty="0" smtClean="0">
                <a:latin typeface="Times"/>
                <a:cs typeface="Times"/>
              </a:rPr>
              <a:t>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698168" y="3893454"/>
            <a:ext cx="981886" cy="336734"/>
          </a:xfrm>
          <a:prstGeom prst="rect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payload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6038638" y="4112120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038638" y="4483364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47" name="Straight Arrow Connector 46"/>
          <p:cNvCxnSpPr/>
          <p:nvPr/>
        </p:nvCxnSpPr>
        <p:spPr>
          <a:xfrm>
            <a:off x="6030308" y="2229430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6030308" y="2581136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6030308" y="2958231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54" name="TextBox 53"/>
          <p:cNvSpPr txBox="1"/>
          <p:nvPr/>
        </p:nvSpPr>
        <p:spPr>
          <a:xfrm>
            <a:off x="1435102" y="4712094"/>
            <a:ext cx="2088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3. </a:t>
            </a:r>
            <a:r>
              <a:rPr lang="en-US" dirty="0" err="1" smtClean="0">
                <a:latin typeface="Times"/>
                <a:cs typeface="Times"/>
              </a:rPr>
              <a:t>PayMany</a:t>
            </a:r>
            <a:r>
              <a:rPr lang="en-US" dirty="0" smtClean="0">
                <a:latin typeface="Times"/>
                <a:cs typeface="Times"/>
              </a:rPr>
              <a:t> </a:t>
            </a:r>
            <a:r>
              <a:rPr lang="en-US" dirty="0" smtClean="0">
                <a:latin typeface="Times"/>
                <a:cs typeface="Times"/>
              </a:rPr>
              <a:t>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45662" y="3179610"/>
            <a:ext cx="196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2</a:t>
            </a:r>
            <a:r>
              <a:rPr lang="en-US" dirty="0" smtClean="0">
                <a:latin typeface="Times"/>
                <a:cs typeface="Times"/>
              </a:rPr>
              <a:t>. </a:t>
            </a:r>
            <a:r>
              <a:rPr lang="en-US" dirty="0" err="1" smtClean="0">
                <a:latin typeface="Times"/>
                <a:cs typeface="Times"/>
              </a:rPr>
              <a:t>FullOne</a:t>
            </a:r>
            <a:r>
              <a:rPr lang="en-US" dirty="0" smtClean="0">
                <a:latin typeface="Times"/>
                <a:cs typeface="Times"/>
              </a:rPr>
              <a:t> </a:t>
            </a:r>
            <a:r>
              <a:rPr lang="en-US" dirty="0" smtClean="0">
                <a:latin typeface="Times"/>
                <a:cs typeface="Times"/>
              </a:rPr>
              <a:t>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680054" y="4715504"/>
            <a:ext cx="1934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Times"/>
                <a:cs typeface="Times"/>
              </a:rPr>
              <a:t>4. </a:t>
            </a:r>
            <a:r>
              <a:rPr lang="en-US" dirty="0" err="1" smtClean="0">
                <a:latin typeface="Times"/>
                <a:cs typeface="Times"/>
              </a:rPr>
              <a:t>PayOne</a:t>
            </a:r>
            <a:r>
              <a:rPr lang="en-US" dirty="0" smtClean="0">
                <a:latin typeface="Times"/>
                <a:cs typeface="Times"/>
              </a:rPr>
              <a:t> </a:t>
            </a:r>
            <a:r>
              <a:rPr lang="en-US" dirty="0" smtClean="0">
                <a:latin typeface="Times"/>
                <a:cs typeface="Times"/>
              </a:rPr>
              <a:t>strategy</a:t>
            </a:r>
            <a:endParaRPr lang="en-US" dirty="0">
              <a:latin typeface="Times"/>
              <a:cs typeface="Times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50532" y="2753015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(4,5),(6,7)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293402" y="2057315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(0,1)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293402" y="2418790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(2,3)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4670224" y="2780668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(4,5),(6,7)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293402" y="3932529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(0,1)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293402" y="4284235"/>
            <a:ext cx="678009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(2,3)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689837" y="1548235"/>
            <a:ext cx="1379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Hash Value</a:t>
            </a:r>
            <a:endParaRPr lang="en-US" sz="20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7284186" y="1548235"/>
            <a:ext cx="1161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Hash Key</a:t>
            </a:r>
            <a:endParaRPr lang="en-US" sz="20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5001846" y="2383683"/>
            <a:ext cx="80111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#1234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336872" y="2758859"/>
            <a:ext cx="801116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#1234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698168" y="4294005"/>
            <a:ext cx="981886" cy="336734"/>
          </a:xfrm>
          <a:prstGeom prst="rect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payload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135871" y="4230623"/>
            <a:ext cx="1170882" cy="33673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(0,1), (2,3)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cxnSp>
        <p:nvCxnSpPr>
          <p:cNvPr id="38" name="Straight Arrow Connector 37"/>
          <p:cNvCxnSpPr/>
          <p:nvPr/>
        </p:nvCxnSpPr>
        <p:spPr>
          <a:xfrm>
            <a:off x="1881107" y="4449290"/>
            <a:ext cx="1150225" cy="6022"/>
          </a:xfrm>
          <a:prstGeom prst="straightConnector1">
            <a:avLst/>
          </a:prstGeom>
          <a:ln>
            <a:solidFill>
              <a:srgbClr val="4F81BD"/>
            </a:solidFill>
            <a:headEnd type="arrow"/>
            <a:tailEnd type="non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40" name="Rectangle 39"/>
          <p:cNvSpPr/>
          <p:nvPr/>
        </p:nvSpPr>
        <p:spPr>
          <a:xfrm>
            <a:off x="710019" y="4280923"/>
            <a:ext cx="981886" cy="336734"/>
          </a:xfrm>
          <a:prstGeom prst="rect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1"/>
                </a:solidFill>
                <a:latin typeface="+mj-lt"/>
                <a:cs typeface="Consolas"/>
              </a:rPr>
              <a:t>payload</a:t>
            </a:r>
            <a:endParaRPr lang="en-US" dirty="0">
              <a:solidFill>
                <a:schemeClr val="accent1"/>
              </a:solidFill>
              <a:latin typeface="+mj-lt"/>
              <a:cs typeface="Consolas"/>
            </a:endParaRPr>
          </a:p>
        </p:txBody>
      </p:sp>
      <p:sp>
        <p:nvSpPr>
          <p:cNvPr id="2" name="Isosceles Triangle 1"/>
          <p:cNvSpPr/>
          <p:nvPr/>
        </p:nvSpPr>
        <p:spPr>
          <a:xfrm>
            <a:off x="2928179" y="2057315"/>
            <a:ext cx="1574290" cy="638813"/>
          </a:xfrm>
          <a:prstGeom prst="triangl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Index</a:t>
            </a:r>
            <a:endParaRPr lang="en-US" dirty="0"/>
          </a:p>
        </p:txBody>
      </p:sp>
      <p:sp>
        <p:nvSpPr>
          <p:cNvPr id="39" name="Isosceles Triangle 38"/>
          <p:cNvSpPr/>
          <p:nvPr/>
        </p:nvSpPr>
        <p:spPr>
          <a:xfrm>
            <a:off x="2928179" y="3528135"/>
            <a:ext cx="1574290" cy="638813"/>
          </a:xfrm>
          <a:prstGeom prst="triangl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Index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749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444509" y="2452078"/>
            <a:ext cx="1159839" cy="45914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Apply</a:t>
            </a:r>
            <a:r>
              <a:rPr lang="en-US" baseline="-25000" dirty="0" err="1" smtClean="0"/>
              <a:t>A</a:t>
            </a:r>
            <a:endParaRPr lang="en-US" baseline="-25000" dirty="0"/>
          </a:p>
        </p:txBody>
      </p:sp>
      <p:sp>
        <p:nvSpPr>
          <p:cNvPr id="5" name="Oval 4"/>
          <p:cNvSpPr/>
          <p:nvPr/>
        </p:nvSpPr>
        <p:spPr>
          <a:xfrm>
            <a:off x="3204299" y="3106615"/>
            <a:ext cx="1640261" cy="48091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IndexJoin</a:t>
            </a:r>
            <a:r>
              <a:rPr lang="en-US" baseline="-25000" dirty="0" err="1" smtClean="0"/>
              <a:t>B</a:t>
            </a:r>
            <a:endParaRPr lang="en-US" dirty="0"/>
          </a:p>
        </p:txBody>
      </p:sp>
      <p:cxnSp>
        <p:nvCxnSpPr>
          <p:cNvPr id="15" name="Straight Arrow Connector 14"/>
          <p:cNvCxnSpPr>
            <a:stCxn id="5" idx="0"/>
            <a:endCxn id="4" idx="4"/>
          </p:cNvCxnSpPr>
          <p:nvPr/>
        </p:nvCxnSpPr>
        <p:spPr>
          <a:xfrm flipH="1" flipV="1">
            <a:off x="4024429" y="2911224"/>
            <a:ext cx="1" cy="19539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37" idx="0"/>
            <a:endCxn id="5" idx="3"/>
          </p:cNvCxnSpPr>
          <p:nvPr/>
        </p:nvCxnSpPr>
        <p:spPr>
          <a:xfrm flipV="1">
            <a:off x="3290613" y="3517101"/>
            <a:ext cx="153897" cy="15471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347244" y="3671815"/>
            <a:ext cx="1886737" cy="46057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NestedJoin</a:t>
            </a:r>
            <a:r>
              <a:rPr lang="en-US" baseline="-25000" dirty="0" err="1" smtClean="0"/>
              <a:t>C</a:t>
            </a:r>
            <a:endParaRPr lang="en-US" dirty="0"/>
          </a:p>
        </p:txBody>
      </p:sp>
      <p:sp>
        <p:nvSpPr>
          <p:cNvPr id="39" name="Rectangle 38"/>
          <p:cNvSpPr/>
          <p:nvPr/>
        </p:nvSpPr>
        <p:spPr>
          <a:xfrm>
            <a:off x="3267517" y="4902467"/>
            <a:ext cx="1024230" cy="689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Query Cells</a:t>
            </a:r>
            <a:endParaRPr lang="en-US" dirty="0"/>
          </a:p>
        </p:txBody>
      </p:sp>
      <p:cxnSp>
        <p:nvCxnSpPr>
          <p:cNvPr id="40" name="Straight Arrow Connector 39"/>
          <p:cNvCxnSpPr>
            <a:stCxn id="44" idx="0"/>
          </p:cNvCxnSpPr>
          <p:nvPr/>
        </p:nvCxnSpPr>
        <p:spPr>
          <a:xfrm flipV="1">
            <a:off x="2347244" y="4342248"/>
            <a:ext cx="309987" cy="57975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39" idx="0"/>
          </p:cNvCxnSpPr>
          <p:nvPr/>
        </p:nvCxnSpPr>
        <p:spPr>
          <a:xfrm flipH="1" flipV="1">
            <a:off x="3457331" y="4342248"/>
            <a:ext cx="322301" cy="56021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3167" y="4922005"/>
            <a:ext cx="1348154" cy="625230"/>
          </a:xfrm>
          <a:prstGeom prst="ellipse">
            <a:avLst/>
          </a:prstGeom>
          <a:ln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Reexec</a:t>
            </a:r>
            <a:r>
              <a:rPr lang="en-US" baseline="-25000" dirty="0" err="1" smtClean="0"/>
              <a:t>C</a:t>
            </a:r>
            <a:endParaRPr lang="en-US" baseline="-25000" dirty="0"/>
          </a:p>
        </p:txBody>
      </p:sp>
      <p:sp>
        <p:nvSpPr>
          <p:cNvPr id="19" name="Can 18"/>
          <p:cNvSpPr/>
          <p:nvPr/>
        </p:nvSpPr>
        <p:spPr>
          <a:xfrm>
            <a:off x="4297493" y="3733458"/>
            <a:ext cx="864577" cy="488461"/>
          </a:xfrm>
          <a:prstGeom prst="can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Prov</a:t>
            </a:r>
            <a:r>
              <a:rPr lang="en-US" baseline="-25000" dirty="0" err="1"/>
              <a:t>B</a:t>
            </a:r>
            <a:endParaRPr lang="en-US" dirty="0"/>
          </a:p>
        </p:txBody>
      </p:sp>
      <p:cxnSp>
        <p:nvCxnSpPr>
          <p:cNvPr id="22" name="Straight Arrow Connector 21"/>
          <p:cNvCxnSpPr>
            <a:stCxn id="19" idx="1"/>
            <a:endCxn id="5" idx="5"/>
          </p:cNvCxnSpPr>
          <p:nvPr/>
        </p:nvCxnSpPr>
        <p:spPr>
          <a:xfrm flipH="1" flipV="1">
            <a:off x="4604349" y="3517101"/>
            <a:ext cx="125433" cy="21635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11051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884248" y="625231"/>
            <a:ext cx="1641231" cy="1641231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1865923" y="3360616"/>
            <a:ext cx="5685692" cy="15337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988539" y="3731846"/>
            <a:ext cx="957384" cy="5275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831863" y="3731846"/>
            <a:ext cx="957384" cy="5275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655647" y="3731846"/>
            <a:ext cx="957384" cy="5275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469662" y="3731846"/>
            <a:ext cx="957384" cy="5275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>
            <a:off x="3350846" y="5314462"/>
            <a:ext cx="2774462" cy="771769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473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1250462" y="3516923"/>
            <a:ext cx="6066692" cy="171938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smtClean="0"/>
              <a:t>Runtime</a:t>
            </a:r>
            <a:endParaRPr lang="en-US" dirty="0"/>
          </a:p>
        </p:txBody>
      </p:sp>
      <p:sp>
        <p:nvSpPr>
          <p:cNvPr id="56" name="Rectangle 55"/>
          <p:cNvSpPr/>
          <p:nvPr/>
        </p:nvSpPr>
        <p:spPr>
          <a:xfrm>
            <a:off x="1512273" y="3643923"/>
            <a:ext cx="5560650" cy="47283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Runtime API</a:t>
            </a:r>
            <a:endParaRPr 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250463" y="1299308"/>
            <a:ext cx="2559538" cy="204665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smtClean="0"/>
              <a:t>Workflow Executor</a:t>
            </a:r>
            <a:endParaRPr lang="en-US" dirty="0"/>
          </a:p>
        </p:txBody>
      </p:sp>
      <p:sp>
        <p:nvSpPr>
          <p:cNvPr id="4" name="Oval 3"/>
          <p:cNvSpPr/>
          <p:nvPr/>
        </p:nvSpPr>
        <p:spPr>
          <a:xfrm>
            <a:off x="2170721" y="2447194"/>
            <a:ext cx="459154" cy="45915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5" name="Oval 4"/>
          <p:cNvSpPr/>
          <p:nvPr/>
        </p:nvSpPr>
        <p:spPr>
          <a:xfrm>
            <a:off x="1512273" y="1973385"/>
            <a:ext cx="459154" cy="45915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2883882" y="1988040"/>
            <a:ext cx="459154" cy="45915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5201753" y="4228124"/>
            <a:ext cx="1391141" cy="656493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Operator D Backend</a:t>
            </a:r>
          </a:p>
        </p:txBody>
      </p:sp>
      <p:cxnSp>
        <p:nvCxnSpPr>
          <p:cNvPr id="15" name="Straight Arrow Connector 14"/>
          <p:cNvCxnSpPr>
            <a:stCxn id="4" idx="7"/>
            <a:endCxn id="6" idx="2"/>
          </p:cNvCxnSpPr>
          <p:nvPr/>
        </p:nvCxnSpPr>
        <p:spPr>
          <a:xfrm flipV="1">
            <a:off x="2562633" y="2217617"/>
            <a:ext cx="321249" cy="29681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5" idx="6"/>
            <a:endCxn id="6" idx="2"/>
          </p:cNvCxnSpPr>
          <p:nvPr/>
        </p:nvCxnSpPr>
        <p:spPr>
          <a:xfrm>
            <a:off x="1971427" y="2202962"/>
            <a:ext cx="912455" cy="146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stCxn id="5" idx="4"/>
          </p:cNvCxnSpPr>
          <p:nvPr/>
        </p:nvCxnSpPr>
        <p:spPr>
          <a:xfrm>
            <a:off x="1741850" y="2432539"/>
            <a:ext cx="485535" cy="1211384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4" idx="4"/>
            <a:endCxn id="60" idx="0"/>
          </p:cNvCxnSpPr>
          <p:nvPr/>
        </p:nvCxnSpPr>
        <p:spPr>
          <a:xfrm>
            <a:off x="2400298" y="2906348"/>
            <a:ext cx="206619" cy="796192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6" idx="4"/>
          </p:cNvCxnSpPr>
          <p:nvPr/>
        </p:nvCxnSpPr>
        <p:spPr>
          <a:xfrm flipH="1">
            <a:off x="2823313" y="2447194"/>
            <a:ext cx="290146" cy="1196729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Can 44"/>
          <p:cNvSpPr/>
          <p:nvPr/>
        </p:nvSpPr>
        <p:spPr>
          <a:xfrm>
            <a:off x="2917090" y="5548924"/>
            <a:ext cx="2774462" cy="771769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Provenance and Arrays</a:t>
            </a:r>
            <a:endParaRPr lang="en-US" dirty="0"/>
          </a:p>
        </p:txBody>
      </p:sp>
      <p:sp>
        <p:nvSpPr>
          <p:cNvPr id="50" name="Rounded Rectangle 49"/>
          <p:cNvSpPr/>
          <p:nvPr/>
        </p:nvSpPr>
        <p:spPr>
          <a:xfrm>
            <a:off x="4171465" y="1299308"/>
            <a:ext cx="1260226" cy="171449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smtClean="0"/>
              <a:t>Optimizer</a:t>
            </a:r>
            <a:endParaRPr lang="en-US" dirty="0"/>
          </a:p>
        </p:txBody>
      </p:sp>
      <p:sp>
        <p:nvSpPr>
          <p:cNvPr id="51" name="Rounded Rectangle 50"/>
          <p:cNvSpPr/>
          <p:nvPr/>
        </p:nvSpPr>
        <p:spPr>
          <a:xfrm>
            <a:off x="5793155" y="1299309"/>
            <a:ext cx="1524000" cy="171449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Query Executor</a:t>
            </a:r>
            <a:endParaRPr lang="en-US" dirty="0"/>
          </a:p>
        </p:txBody>
      </p:sp>
      <p:sp>
        <p:nvSpPr>
          <p:cNvPr id="53" name="Cube 52"/>
          <p:cNvSpPr/>
          <p:nvPr/>
        </p:nvSpPr>
        <p:spPr>
          <a:xfrm>
            <a:off x="1644151" y="166077"/>
            <a:ext cx="973996" cy="781539"/>
          </a:xfrm>
          <a:prstGeom prst="cub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Array</a:t>
            </a:r>
            <a:endParaRPr lang="en-US" dirty="0"/>
          </a:p>
        </p:txBody>
      </p:sp>
      <p:cxnSp>
        <p:nvCxnSpPr>
          <p:cNvPr id="55" name="Straight Arrow Connector 54"/>
          <p:cNvCxnSpPr>
            <a:stCxn id="53" idx="3"/>
          </p:cNvCxnSpPr>
          <p:nvPr/>
        </p:nvCxnSpPr>
        <p:spPr>
          <a:xfrm>
            <a:off x="2033457" y="947616"/>
            <a:ext cx="8312" cy="3516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853216" y="3702540"/>
            <a:ext cx="1507401" cy="3556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Write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810001" y="4222263"/>
            <a:ext cx="1283677" cy="646723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Operator C Backend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400298" y="4237894"/>
            <a:ext cx="1283677" cy="646723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Operator A Backend</a:t>
            </a:r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2286002" y="4058140"/>
            <a:ext cx="114296" cy="402490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2682634" y="4058141"/>
            <a:ext cx="140679" cy="275489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2987433" y="4058141"/>
            <a:ext cx="250092" cy="166075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3810001" y="1804866"/>
            <a:ext cx="361464" cy="0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2562633" y="5107353"/>
            <a:ext cx="702733" cy="441571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5112231" y="3702540"/>
            <a:ext cx="1726231" cy="3556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Scan/Lookup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5677259" y="578284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Queries</a:t>
            </a:r>
            <a:endParaRPr lang="en-US" dirty="0"/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6113088" y="947616"/>
            <a:ext cx="8312" cy="3516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4682391" y="3013806"/>
            <a:ext cx="0" cy="50311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/>
          <p:nvPr/>
        </p:nvCxnSpPr>
        <p:spPr>
          <a:xfrm>
            <a:off x="3113459" y="4980353"/>
            <a:ext cx="304307" cy="568571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13" idx="2"/>
          </p:cNvCxnSpPr>
          <p:nvPr/>
        </p:nvCxnSpPr>
        <p:spPr>
          <a:xfrm flipH="1">
            <a:off x="5598381" y="4884617"/>
            <a:ext cx="298943" cy="668215"/>
          </a:xfrm>
          <a:prstGeom prst="straightConnector1">
            <a:avLst/>
          </a:prstGeom>
          <a:ln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5431691" y="1804866"/>
            <a:ext cx="361464" cy="0"/>
          </a:xfrm>
          <a:prstGeom prst="straightConnector1">
            <a:avLst/>
          </a:prstGeom>
          <a:ln>
            <a:prstDash val="sysDash"/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Can 102"/>
          <p:cNvSpPr/>
          <p:nvPr/>
        </p:nvSpPr>
        <p:spPr>
          <a:xfrm>
            <a:off x="4347307" y="2202962"/>
            <a:ext cx="893522" cy="591038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129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9" name="Straight Connector 128"/>
          <p:cNvCxnSpPr/>
          <p:nvPr/>
        </p:nvCxnSpPr>
        <p:spPr>
          <a:xfrm>
            <a:off x="1289538" y="3194542"/>
            <a:ext cx="5742957" cy="195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686327" y="1425556"/>
            <a:ext cx="2123673" cy="131959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smtClean="0"/>
              <a:t>Workflow Executor</a:t>
            </a:r>
            <a:endParaRPr lang="en-US" sz="1600" dirty="0"/>
          </a:p>
        </p:txBody>
      </p:sp>
      <p:sp>
        <p:nvSpPr>
          <p:cNvPr id="4" name="Oval 3"/>
          <p:cNvSpPr/>
          <p:nvPr/>
        </p:nvSpPr>
        <p:spPr>
          <a:xfrm>
            <a:off x="2561481" y="2163893"/>
            <a:ext cx="349741" cy="353132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</a:t>
            </a:r>
            <a:endParaRPr lang="en-US" sz="1600" dirty="0"/>
          </a:p>
        </p:txBody>
      </p:sp>
      <p:sp>
        <p:nvSpPr>
          <p:cNvPr id="5" name="Oval 4"/>
          <p:cNvSpPr/>
          <p:nvPr/>
        </p:nvSpPr>
        <p:spPr>
          <a:xfrm>
            <a:off x="1932340" y="1817081"/>
            <a:ext cx="349741" cy="353132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</a:t>
            </a:r>
            <a:endParaRPr lang="en-US" sz="1600" dirty="0"/>
          </a:p>
        </p:txBody>
      </p:sp>
      <p:sp>
        <p:nvSpPr>
          <p:cNvPr id="6" name="Oval 5"/>
          <p:cNvSpPr/>
          <p:nvPr/>
        </p:nvSpPr>
        <p:spPr>
          <a:xfrm>
            <a:off x="3303949" y="1831736"/>
            <a:ext cx="349741" cy="353132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D</a:t>
            </a:r>
            <a:endParaRPr lang="en-US" sz="1600" dirty="0"/>
          </a:p>
        </p:txBody>
      </p:sp>
      <p:cxnSp>
        <p:nvCxnSpPr>
          <p:cNvPr id="15" name="Straight Arrow Connector 14"/>
          <p:cNvCxnSpPr>
            <a:stCxn id="4" idx="7"/>
            <a:endCxn id="6" idx="2"/>
          </p:cNvCxnSpPr>
          <p:nvPr/>
        </p:nvCxnSpPr>
        <p:spPr>
          <a:xfrm flipV="1">
            <a:off x="2860004" y="2008302"/>
            <a:ext cx="443945" cy="2073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5" idx="6"/>
            <a:endCxn id="6" idx="2"/>
          </p:cNvCxnSpPr>
          <p:nvPr/>
        </p:nvCxnSpPr>
        <p:spPr>
          <a:xfrm>
            <a:off x="2282081" y="1993647"/>
            <a:ext cx="1021868" cy="146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stCxn id="5" idx="4"/>
          </p:cNvCxnSpPr>
          <p:nvPr/>
        </p:nvCxnSpPr>
        <p:spPr>
          <a:xfrm>
            <a:off x="2107211" y="2170213"/>
            <a:ext cx="0" cy="1043868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4" idx="4"/>
          </p:cNvCxnSpPr>
          <p:nvPr/>
        </p:nvCxnSpPr>
        <p:spPr>
          <a:xfrm>
            <a:off x="2736352" y="2517025"/>
            <a:ext cx="0" cy="697056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6" idx="4"/>
          </p:cNvCxnSpPr>
          <p:nvPr/>
        </p:nvCxnSpPr>
        <p:spPr>
          <a:xfrm>
            <a:off x="3478820" y="2184868"/>
            <a:ext cx="0" cy="1009674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Can 44"/>
          <p:cNvSpPr/>
          <p:nvPr/>
        </p:nvSpPr>
        <p:spPr>
          <a:xfrm>
            <a:off x="3055800" y="4074386"/>
            <a:ext cx="682389" cy="457192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</a:t>
            </a:r>
            <a:endParaRPr lang="en-US" sz="1600" dirty="0"/>
          </a:p>
        </p:txBody>
      </p:sp>
      <p:sp>
        <p:nvSpPr>
          <p:cNvPr id="50" name="Rounded Rectangle 49"/>
          <p:cNvSpPr/>
          <p:nvPr/>
        </p:nvSpPr>
        <p:spPr>
          <a:xfrm>
            <a:off x="3976076" y="1416538"/>
            <a:ext cx="1318846" cy="132861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smtClean="0"/>
              <a:t>Optimizer</a:t>
            </a:r>
            <a:endParaRPr lang="en-US" sz="1600" dirty="0"/>
          </a:p>
        </p:txBody>
      </p:sp>
      <p:sp>
        <p:nvSpPr>
          <p:cNvPr id="51" name="Rounded Rectangle 50"/>
          <p:cNvSpPr/>
          <p:nvPr/>
        </p:nvSpPr>
        <p:spPr>
          <a:xfrm>
            <a:off x="5646620" y="1416539"/>
            <a:ext cx="1182076" cy="1328615"/>
          </a:xfrm>
          <a:prstGeom prst="roundRect">
            <a:avLst/>
          </a:prstGeom>
          <a:ln>
            <a:solidFill>
              <a:srgbClr val="C0504D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smtClean="0"/>
              <a:t>Query Executor</a:t>
            </a:r>
            <a:endParaRPr lang="en-US" sz="1600" dirty="0"/>
          </a:p>
        </p:txBody>
      </p:sp>
      <p:sp>
        <p:nvSpPr>
          <p:cNvPr id="53" name="Cube 52"/>
          <p:cNvSpPr/>
          <p:nvPr/>
        </p:nvSpPr>
        <p:spPr>
          <a:xfrm>
            <a:off x="2424714" y="451279"/>
            <a:ext cx="818502" cy="627130"/>
          </a:xfrm>
          <a:prstGeom prst="cub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Array</a:t>
            </a:r>
            <a:endParaRPr lang="en-US" sz="1600" dirty="0"/>
          </a:p>
        </p:txBody>
      </p:sp>
      <p:cxnSp>
        <p:nvCxnSpPr>
          <p:cNvPr id="55" name="Straight Arrow Connector 54"/>
          <p:cNvCxnSpPr/>
          <p:nvPr/>
        </p:nvCxnSpPr>
        <p:spPr>
          <a:xfrm>
            <a:off x="2885315" y="1055075"/>
            <a:ext cx="8312" cy="3516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393958" y="685743"/>
            <a:ext cx="83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Queries</a:t>
            </a:r>
            <a:endParaRPr lang="en-US" sz="1600" dirty="0"/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5829787" y="1055075"/>
            <a:ext cx="8312" cy="351692"/>
          </a:xfrm>
          <a:prstGeom prst="straightConnector1">
            <a:avLst/>
          </a:prstGeom>
          <a:ln>
            <a:solidFill>
              <a:srgbClr val="C0504D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4789850" y="2745154"/>
            <a:ext cx="0" cy="6512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5285156" y="1804866"/>
            <a:ext cx="361464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>
            <a:endCxn id="51" idx="2"/>
          </p:cNvCxnSpPr>
          <p:nvPr/>
        </p:nvCxnSpPr>
        <p:spPr>
          <a:xfrm flipV="1">
            <a:off x="5158312" y="2745154"/>
            <a:ext cx="1079346" cy="605692"/>
          </a:xfrm>
          <a:prstGeom prst="straightConnector1">
            <a:avLst/>
          </a:prstGeom>
          <a:ln>
            <a:solidFill>
              <a:srgbClr val="C0504D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411812" y="685743"/>
            <a:ext cx="570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Cells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 flipV="1">
            <a:off x="6613778" y="1055075"/>
            <a:ext cx="1" cy="351692"/>
          </a:xfrm>
          <a:prstGeom prst="straightConnector1">
            <a:avLst/>
          </a:prstGeom>
          <a:ln>
            <a:solidFill>
              <a:srgbClr val="C0504D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n 37"/>
          <p:cNvSpPr/>
          <p:nvPr/>
        </p:nvSpPr>
        <p:spPr>
          <a:xfrm>
            <a:off x="3957988" y="4074386"/>
            <a:ext cx="682389" cy="457192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</a:t>
            </a:r>
            <a:endParaRPr lang="en-US" sz="1600" dirty="0"/>
          </a:p>
        </p:txBody>
      </p:sp>
      <p:sp>
        <p:nvSpPr>
          <p:cNvPr id="39" name="Can 38"/>
          <p:cNvSpPr/>
          <p:nvPr/>
        </p:nvSpPr>
        <p:spPr>
          <a:xfrm>
            <a:off x="4845704" y="4074386"/>
            <a:ext cx="682389" cy="457192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D</a:t>
            </a:r>
            <a:endParaRPr lang="en-US" sz="1600" dirty="0"/>
          </a:p>
        </p:txBody>
      </p:sp>
      <p:cxnSp>
        <p:nvCxnSpPr>
          <p:cNvPr id="41" name="Straight Arrow Connector 40"/>
          <p:cNvCxnSpPr>
            <a:endCxn id="45" idx="1"/>
          </p:cNvCxnSpPr>
          <p:nvPr/>
        </p:nvCxnSpPr>
        <p:spPr>
          <a:xfrm>
            <a:off x="2836165" y="3708409"/>
            <a:ext cx="560830" cy="365977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70" idx="2"/>
            <a:endCxn id="38" idx="1"/>
          </p:cNvCxnSpPr>
          <p:nvPr/>
        </p:nvCxnSpPr>
        <p:spPr>
          <a:xfrm>
            <a:off x="3199425" y="3708409"/>
            <a:ext cx="1099758" cy="365977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endCxn id="39" idx="1"/>
          </p:cNvCxnSpPr>
          <p:nvPr/>
        </p:nvCxnSpPr>
        <p:spPr>
          <a:xfrm>
            <a:off x="3455374" y="3708409"/>
            <a:ext cx="1731525" cy="365977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91609" y="2149238"/>
            <a:ext cx="1066703" cy="44077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 smtClean="0"/>
              <a:t>Statistics Collector</a:t>
            </a:r>
            <a:endParaRPr lang="en-US" sz="1500" dirty="0"/>
          </a:p>
        </p:txBody>
      </p:sp>
      <p:cxnSp>
        <p:nvCxnSpPr>
          <p:cNvPr id="62" name="Straight Arrow Connector 61"/>
          <p:cNvCxnSpPr/>
          <p:nvPr/>
        </p:nvCxnSpPr>
        <p:spPr>
          <a:xfrm flipV="1">
            <a:off x="4454769" y="2745154"/>
            <a:ext cx="0" cy="803888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Cube 68"/>
          <p:cNvSpPr/>
          <p:nvPr/>
        </p:nvSpPr>
        <p:spPr>
          <a:xfrm>
            <a:off x="2500106" y="537305"/>
            <a:ext cx="818502" cy="627130"/>
          </a:xfrm>
          <a:prstGeom prst="cub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Array</a:t>
            </a:r>
            <a:endParaRPr lang="en-US" sz="1600" dirty="0"/>
          </a:p>
        </p:txBody>
      </p:sp>
      <p:sp>
        <p:nvSpPr>
          <p:cNvPr id="70" name="Rectangle 69"/>
          <p:cNvSpPr/>
          <p:nvPr/>
        </p:nvSpPr>
        <p:spPr>
          <a:xfrm>
            <a:off x="2627923" y="3396362"/>
            <a:ext cx="1143004" cy="3120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Encoder</a:t>
            </a:r>
            <a:endParaRPr lang="en-US" sz="1600" dirty="0"/>
          </a:p>
        </p:txBody>
      </p:sp>
      <p:sp>
        <p:nvSpPr>
          <p:cNvPr id="73" name="Rectangle 72"/>
          <p:cNvSpPr/>
          <p:nvPr/>
        </p:nvSpPr>
        <p:spPr>
          <a:xfrm>
            <a:off x="3868617" y="3396362"/>
            <a:ext cx="1426314" cy="31204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Decoder</a:t>
            </a:r>
            <a:endParaRPr lang="en-US" sz="1600" dirty="0"/>
          </a:p>
        </p:txBody>
      </p:sp>
      <p:cxnSp>
        <p:nvCxnSpPr>
          <p:cNvPr id="74" name="Straight Arrow Connector 73"/>
          <p:cNvCxnSpPr>
            <a:stCxn id="39" idx="1"/>
          </p:cNvCxnSpPr>
          <p:nvPr/>
        </p:nvCxnSpPr>
        <p:spPr>
          <a:xfrm flipH="1" flipV="1">
            <a:off x="5011615" y="3708409"/>
            <a:ext cx="175284" cy="365977"/>
          </a:xfrm>
          <a:prstGeom prst="straightConnector1">
            <a:avLst/>
          </a:prstGeom>
          <a:ln>
            <a:solidFill>
              <a:srgbClr val="C0504D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4091609" y="1837343"/>
            <a:ext cx="1066703" cy="23129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IP Solver</a:t>
            </a:r>
            <a:endParaRPr lang="en-US" sz="1600" dirty="0"/>
          </a:p>
        </p:txBody>
      </p:sp>
      <p:sp>
        <p:nvSpPr>
          <p:cNvPr id="85" name="Rectangle 84"/>
          <p:cNvSpPr/>
          <p:nvPr/>
        </p:nvSpPr>
        <p:spPr>
          <a:xfrm>
            <a:off x="5374421" y="3392738"/>
            <a:ext cx="1482405" cy="31204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Re-executor</a:t>
            </a:r>
            <a:endParaRPr lang="en-US" sz="1600" dirty="0"/>
          </a:p>
        </p:txBody>
      </p:sp>
      <p:cxnSp>
        <p:nvCxnSpPr>
          <p:cNvPr id="95" name="Straight Arrow Connector 94"/>
          <p:cNvCxnSpPr>
            <a:stCxn id="38" idx="1"/>
            <a:endCxn id="73" idx="2"/>
          </p:cNvCxnSpPr>
          <p:nvPr/>
        </p:nvCxnSpPr>
        <p:spPr>
          <a:xfrm flipV="1">
            <a:off x="4299183" y="3708409"/>
            <a:ext cx="282591" cy="365977"/>
          </a:xfrm>
          <a:prstGeom prst="straightConnector1">
            <a:avLst/>
          </a:prstGeom>
          <a:ln>
            <a:solidFill>
              <a:srgbClr val="C0504D"/>
            </a:solidFill>
            <a:prstDash val="sysDash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Rectangle 126"/>
          <p:cNvSpPr/>
          <p:nvPr/>
        </p:nvSpPr>
        <p:spPr>
          <a:xfrm>
            <a:off x="1289538" y="3166187"/>
            <a:ext cx="8919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8731" y="2755875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en-US" dirty="0"/>
          </a:p>
        </p:txBody>
      </p:sp>
      <p:cxnSp>
        <p:nvCxnSpPr>
          <p:cNvPr id="68" name="Straight Connector 67"/>
          <p:cNvCxnSpPr/>
          <p:nvPr/>
        </p:nvCxnSpPr>
        <p:spPr>
          <a:xfrm>
            <a:off x="1289538" y="3864712"/>
            <a:ext cx="5742957" cy="195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1289538" y="3836357"/>
            <a:ext cx="100700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 smtClean="0"/>
              <a:t>Operator</a:t>
            </a:r>
          </a:p>
          <a:p>
            <a:r>
              <a:rPr lang="en-US" sz="1600" dirty="0" smtClean="0"/>
              <a:t>Specific</a:t>
            </a:r>
          </a:p>
          <a:p>
            <a:r>
              <a:rPr lang="en-US" sz="1600" dirty="0" err="1" smtClean="0"/>
              <a:t>Datastore</a:t>
            </a:r>
            <a:endParaRPr lang="en-US" sz="1600" dirty="0"/>
          </a:p>
        </p:txBody>
      </p:sp>
      <p:sp>
        <p:nvSpPr>
          <p:cNvPr id="36" name="Rectangle 35"/>
          <p:cNvSpPr/>
          <p:nvPr/>
        </p:nvSpPr>
        <p:spPr>
          <a:xfrm>
            <a:off x="5324238" y="1420116"/>
            <a:ext cx="3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6600" y="687640"/>
            <a:ext cx="1133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Constraints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4594961" y="1078409"/>
            <a:ext cx="8312" cy="3516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385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6892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30690</TotalTime>
  <Words>460</Words>
  <Application>Microsoft Macintosh PowerPoint</Application>
  <PresentationFormat>On-screen Show (4:3)</PresentationFormat>
  <Paragraphs>213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eugene</dc:creator>
  <cp:lastModifiedBy>eugene</cp:lastModifiedBy>
  <cp:revision>138</cp:revision>
  <dcterms:created xsi:type="dcterms:W3CDTF">2011-10-28T17:54:30Z</dcterms:created>
  <dcterms:modified xsi:type="dcterms:W3CDTF">2012-07-18T20:02:34Z</dcterms:modified>
</cp:coreProperties>
</file>